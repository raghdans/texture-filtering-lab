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שקופית פתיחה. יש להשלים את הפרטים האישיים לפני ההגשה.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A0D79A-C187-46F9-9909-A9C1C6639D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2C5AA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080453-560D-4E4D-A0C4-10A4A15C8A09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2B334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79C6E1-BD56-4D0E-9AE1-54C6C0A154CD}"/>
              </a:ext>
            </a:extLst>
          </p:cNvPr>
          <p:cNvSpPr>
            <a:spLocks noGrp="1"/>
          </p:cNvSpPr>
          <p:nvPr/>
        </p:nvSpPr>
        <p:spPr>
          <a:xfrm>
            <a:off x="781050" y="1619250"/>
            <a:ext cx="5810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4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Texture Filtering Lab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FCD95E-2282-4DFC-A968-96ADB27266D1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5810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2250" b="0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5C4D8"/>
                </a:solidFill>
                <a:latin typeface="Arial"/>
                <a:ea typeface="Arial"/>
                <a:cs typeface="Arial"/>
              </a:rPr>
              <a:t>סינון טקסטורות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74FA1E-E1E5-4F0D-8034-A629FCC3D539}"/>
              </a:ext>
            </a:extLst>
          </p:cNvPr>
          <p:cNvSpPr>
            <a:spLocks noGrp="1"/>
          </p:cNvSpPr>
          <p:nvPr/>
        </p:nvSpPr>
        <p:spPr>
          <a:xfrm>
            <a:off x="781050" y="2990850"/>
            <a:ext cx="5810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 fontScale="91190"/>
          </a:bodyPr>
          <a:lstStyle/>
          <a:p>
            <a:pPr algn="r">
              <a:lnSpc>
                <a:spcPct val="108000"/>
              </a:lnSpc>
              <a:buNone/>
              <a:defRPr sz="1650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C++</a:t>
            </a:r>
          </a:p>
          <a:p>
            <a:pPr algn="r">
              <a:lnSpc>
                <a:spcPct val="108000"/>
              </a:lnSpc>
              <a:buNone/>
              <a:defRPr sz="1650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Mipmapping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CDFE0E-6399-4475-A483-A1C54AD59D25}"/>
              </a:ext>
            </a:extLst>
          </p:cNvPr>
          <p:cNvSpPr>
            <a:spLocks noGrp="1"/>
          </p:cNvSpPr>
          <p:nvPr/>
        </p:nvSpPr>
        <p:spPr>
          <a:xfrm>
            <a:off x="781050" y="3905250"/>
            <a:ext cx="5334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75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שם: ____________</a:t>
            </a:r>
          </a:p>
          <a:p>
            <a:pPr algn="r">
              <a:lnSpc>
                <a:spcPct val="108000"/>
              </a:lnSpc>
              <a:buNone/>
              <a:defRPr sz="1575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מספר סטודנט: ____________</a:t>
            </a:r>
          </a:p>
          <a:p>
            <a:pPr algn="r">
              <a:lnSpc>
                <a:spcPct val="108000"/>
              </a:lnSpc>
              <a:buNone/>
              <a:defRPr sz="1575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קורס: ____________</a:t>
            </a:r>
          </a:p>
          <a:p>
            <a:pPr algn="r">
              <a:lnSpc>
                <a:spcPct val="108000"/>
              </a:lnSpc>
              <a:buNone/>
              <a:defRPr sz="1575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מרצה: ____________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rcRect l="43000" t="2000" r="1000" b="2000"/>
          <a:stretch/>
        </p:blipFill>
        <p:spPr>
          <a:xfrm>
            <a:off x="7239000" y="0"/>
            <a:ext cx="495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009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EDC4E6B-48E9-480C-97C6-1D34181622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C5AA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73786E-21CC-4984-85B4-83D19CD19C67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25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מטרת הפרויקט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29A6B9-EC38-49FB-8CF4-A5C3813D6537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46505E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355F8A-7E14-4E3E-B4C1-AE87D019485B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7E11E9-0474-4D4E-8072-BCD6695F0CE4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91440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1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בנינו תוכנה אינטראקטיבית שמאפשרת לראות כיצד שיטת הדגימה משפיעה על טקסטורה בזמן הגדלה והקטנה.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69EC37-0618-4CA2-B292-00596D7A11EA}"/>
              </a:ext>
            </a:extLst>
          </p:cNvPr>
          <p:cNvSpPr>
            <a:spLocks noGrp="1"/>
          </p:cNvSpPr>
          <p:nvPr/>
        </p:nvSpPr>
        <p:spPr>
          <a:xfrm>
            <a:off x="1047750" y="2781300"/>
            <a:ext cx="3048000" cy="2000250"/>
          </a:xfrm>
          <a:prstGeom prst="roundRect">
            <a:avLst>
              <a:gd name="adj" fmla="val 8571"/>
            </a:avLst>
          </a:prstGeom>
          <a:solidFill>
            <a:srgbClr val="2B334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DB1F17-F449-4192-843D-63E343AE7643}"/>
              </a:ext>
            </a:extLst>
          </p:cNvPr>
          <p:cNvSpPr>
            <a:spLocks noGrp="1"/>
          </p:cNvSpPr>
          <p:nvPr/>
        </p:nvSpPr>
        <p:spPr>
          <a:xfrm>
            <a:off x="4572000" y="2781300"/>
            <a:ext cx="3048000" cy="2000250"/>
          </a:xfrm>
          <a:prstGeom prst="roundRect">
            <a:avLst>
              <a:gd name="adj" fmla="val 8571"/>
            </a:avLst>
          </a:prstGeom>
          <a:solidFill>
            <a:srgbClr val="2B334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EBF7FFC-C4E3-4EA4-BB5F-41F8365E6328}"/>
              </a:ext>
            </a:extLst>
          </p:cNvPr>
          <p:cNvSpPr>
            <a:spLocks noGrp="1"/>
          </p:cNvSpPr>
          <p:nvPr/>
        </p:nvSpPr>
        <p:spPr>
          <a:xfrm>
            <a:off x="8096250" y="2781300"/>
            <a:ext cx="3048000" cy="2000250"/>
          </a:xfrm>
          <a:prstGeom prst="roundRect">
            <a:avLst>
              <a:gd name="adj" fmla="val 8571"/>
            </a:avLst>
          </a:prstGeom>
          <a:solidFill>
            <a:srgbClr val="2B334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EC8390-53B5-40E6-B47A-84B87D0E92A3}"/>
              </a:ext>
            </a:extLst>
          </p:cNvPr>
          <p:cNvSpPr>
            <a:spLocks noGrp="1"/>
          </p:cNvSpPr>
          <p:nvPr/>
        </p:nvSpPr>
        <p:spPr>
          <a:xfrm>
            <a:off x="1238250" y="3000375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Nearest Neighbor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A32641-2850-4D8A-BED5-B3D853781FEC}"/>
              </a:ext>
            </a:extLst>
          </p:cNvPr>
          <p:cNvSpPr>
            <a:spLocks noGrp="1"/>
          </p:cNvSpPr>
          <p:nvPr/>
        </p:nvSpPr>
        <p:spPr>
          <a:xfrm>
            <a:off x="1285875" y="3524250"/>
            <a:ext cx="2571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בחירת הטקסל הקרוב ביותר. התוצאה חדה ומרובעת.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91B421-B1EB-44A3-8D17-670426D4888A}"/>
              </a:ext>
            </a:extLst>
          </p:cNvPr>
          <p:cNvSpPr>
            <a:spLocks noGrp="1"/>
          </p:cNvSpPr>
          <p:nvPr/>
        </p:nvSpPr>
        <p:spPr>
          <a:xfrm>
            <a:off x="4762500" y="3000375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Bilinear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BB715A-C25B-410B-B4FA-5AFC9D018F20}"/>
              </a:ext>
            </a:extLst>
          </p:cNvPr>
          <p:cNvSpPr>
            <a:spLocks noGrp="1"/>
          </p:cNvSpPr>
          <p:nvPr/>
        </p:nvSpPr>
        <p:spPr>
          <a:xfrm>
            <a:off x="4810125" y="3524250"/>
            <a:ext cx="2571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ערבוב ארבעה טקסלים סמוכים לקבלת מעבר חלק יותר.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BA9440-14A6-4256-81BB-B378206BDDBA}"/>
              </a:ext>
            </a:extLst>
          </p:cNvPr>
          <p:cNvSpPr>
            <a:spLocks noGrp="1"/>
          </p:cNvSpPr>
          <p:nvPr/>
        </p:nvSpPr>
        <p:spPr>
          <a:xfrm>
            <a:off x="8286750" y="3000375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Mipmap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58A802-94AE-4AE9-95A9-19706BDE7ED2}"/>
              </a:ext>
            </a:extLst>
          </p:cNvPr>
          <p:cNvSpPr>
            <a:spLocks noGrp="1"/>
          </p:cNvSpPr>
          <p:nvPr/>
        </p:nvSpPr>
        <p:spPr>
          <a:xfrm>
            <a:off x="8334375" y="3524250"/>
            <a:ext cx="2571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בחירת גרסה מוקטנת של הטקסטורה כדי לצמצם aliasing.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5F5C07-16E8-4787-BF6C-C013F9355702}"/>
              </a:ext>
            </a:extLst>
          </p:cNvPr>
          <p:cNvSpPr>
            <a:spLocks noGrp="1"/>
          </p:cNvSpPr>
          <p:nvPr/>
        </p:nvSpPr>
        <p:spPr>
          <a:xfrm>
            <a:off x="1428750" y="5219700"/>
            <a:ext cx="933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את חישובי הדגימה, הממוצעים ובחירת הרמות מימשנו ידנית.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29989-5B0E-4327-BFC2-E7EE49C162AA}"/>
              </a:ext>
            </a:extLst>
          </p:cNvPr>
          <p:cNvSpPr>
            <a:spLocks noGrp="1"/>
          </p:cNvSpPr>
          <p:nvPr/>
        </p:nvSpPr>
        <p:spPr>
          <a:xfrm>
            <a:off x="1428750" y="5581650"/>
            <a:ext cx="9334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 fontScale="94307"/>
          </a:bodyPr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C4D8"/>
                </a:solidFill>
                <a:latin typeface="Arial"/>
                <a:ea typeface="Arial"/>
                <a:cs typeface="Arial"/>
              </a:rPr>
              <a:t>CPU implementation</a:t>
            </a:r>
          </a:p>
          <a:p>
            <a:pPr algn="ctr">
              <a:lnSpc>
                <a:spcPct val="108000"/>
              </a:lnSpc>
              <a:buNone/>
              <a:defRPr sz="1350" b="0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C4D8"/>
                </a:solidFill>
                <a:latin typeface="Arial"/>
                <a:ea typeface="Arial"/>
                <a:cs typeface="Arial"/>
              </a:rPr>
              <a:t>MiniFB displays the framebuffer</a:t>
            </a:r>
          </a:p>
        </p:txBody>
      </p:sp>
    </p:spTree>
    <p:extLst>
      <p:ext uri="{BB962C8B-B14F-4D97-AF65-F5344CB8AC3E}">
        <p14:creationId xmlns:p14="http://schemas.microsoft.com/office/powerpoint/2010/main" val="106518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5B824D8-C298-4841-A398-F533DCC8ED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C5AA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B7DD07-ACE4-4812-B3CC-FC8B5F151801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25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מצבים 1 ו־2: דגימה בסיסית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20C04D-1693-4F83-805D-5259ED0058D8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46505E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62055F-6FDF-48DD-A3C9-261A73BB2A4F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l="42500" t="2000" r="1000" b="2000"/>
          <a:stretch/>
        </p:blipFill>
        <p:spPr>
          <a:xfrm>
            <a:off x="666750" y="1381125"/>
            <a:ext cx="5095875" cy="3333750"/>
          </a:xfrm>
          <a:prstGeom prst="roundRect">
            <a:avLst>
              <a:gd name="adj" fmla="val 3429"/>
            </a:avLst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rcRect l="42500" t="2000" r="1000" b="2000"/>
          <a:stretch/>
        </p:blipFill>
        <p:spPr>
          <a:xfrm>
            <a:off x="6429375" y="1381125"/>
            <a:ext cx="5095875" cy="3333750"/>
          </a:xfrm>
          <a:prstGeom prst="roundRect">
            <a:avLst>
              <a:gd name="adj" fmla="val 3429"/>
            </a:avLst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C0E52C-11E3-46E7-B1B5-6AA09EE2589B}"/>
              </a:ext>
            </a:extLst>
          </p:cNvPr>
          <p:cNvSpPr>
            <a:spLocks noGrp="1"/>
          </p:cNvSpPr>
          <p:nvPr/>
        </p:nvSpPr>
        <p:spPr>
          <a:xfrm>
            <a:off x="666750" y="4905375"/>
            <a:ext cx="5095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1 / N — Nearest Neighbor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5C9037-3AE3-44AE-8F6C-9D09A09DD7FE}"/>
              </a:ext>
            </a:extLst>
          </p:cNvPr>
          <p:cNvSpPr>
            <a:spLocks noGrp="1"/>
          </p:cNvSpPr>
          <p:nvPr/>
        </p:nvSpPr>
        <p:spPr>
          <a:xfrm>
            <a:off x="762000" y="5314950"/>
            <a:ext cx="49053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כל פיקסל מקבל צבע מטקסל אחד. רואים גבולות חדים ומשבצות ברורות.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484A4-0829-4236-8AD5-368ED568F793}"/>
              </a:ext>
            </a:extLst>
          </p:cNvPr>
          <p:cNvSpPr>
            <a:spLocks noGrp="1"/>
          </p:cNvSpPr>
          <p:nvPr/>
        </p:nvSpPr>
        <p:spPr>
          <a:xfrm>
            <a:off x="6429375" y="4905375"/>
            <a:ext cx="5095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2 / B — Bilinear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F3E0D0-DB74-4A8D-ACD8-38C3628A1D8D}"/>
              </a:ext>
            </a:extLst>
          </p:cNvPr>
          <p:cNvSpPr>
            <a:spLocks noGrp="1"/>
          </p:cNvSpPr>
          <p:nvPr/>
        </p:nvSpPr>
        <p:spPr>
          <a:xfrm>
            <a:off x="6524625" y="5314950"/>
            <a:ext cx="49053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כל פיקסל מחושב מארבעה טקסלים סמוכים. הגבולות נעשים רכים יותר.</a:t>
            </a:r>
          </a:p>
        </p:txBody>
      </p:sp>
    </p:spTree>
    <p:extLst>
      <p:ext uri="{BB962C8B-B14F-4D97-AF65-F5344CB8AC3E}">
        <p14:creationId xmlns:p14="http://schemas.microsoft.com/office/powerpoint/2010/main" val="2065014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771719C-AF2B-4BBA-8889-840373DC43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C5AA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05FBD4-2A96-4FF1-A3E1-954CB5A6899F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25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מצב 3: השוואה ישירה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C00468-676D-42CF-97D9-C7E96F350BEA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46505E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39DFA9-A90C-4CB6-A7FC-FA4CD49CA6A6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rcRect l="42500" t="2000" r="1000" b="2000"/>
          <a:stretch/>
        </p:blipFill>
        <p:spPr>
          <a:xfrm>
            <a:off x="4238625" y="1333500"/>
            <a:ext cx="7286625" cy="4524375"/>
          </a:xfrm>
          <a:prstGeom prst="roundRect">
            <a:avLst>
              <a:gd name="adj" fmla="val 2526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3ED135A-3390-458B-99D8-3986AEA0AF79}"/>
              </a:ext>
            </a:extLst>
          </p:cNvPr>
          <p:cNvSpPr>
            <a:spLocks noGrp="1"/>
          </p:cNvSpPr>
          <p:nvPr/>
        </p:nvSpPr>
        <p:spPr>
          <a:xfrm>
            <a:off x="714375" y="1447800"/>
            <a:ext cx="2857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2250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3 / 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A23D5B-C722-4611-A9F7-D841D504DE5D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28765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7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אותה טקסטורה מוצגת בשני הצדדים.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ABEEE94-6CAA-4140-B3B8-C12382D4CFC7}"/>
              </a:ext>
            </a:extLst>
          </p:cNvPr>
          <p:cNvSpPr>
            <a:spLocks noGrp="1"/>
          </p:cNvSpPr>
          <p:nvPr/>
        </p:nvSpPr>
        <p:spPr>
          <a:xfrm>
            <a:off x="3676650" y="2314575"/>
            <a:ext cx="85725" cy="85725"/>
          </a:xfrm>
          <a:prstGeom prst="roundRect">
            <a:avLst>
              <a:gd name="adj" fmla="val 50000"/>
            </a:avLst>
          </a:prstGeom>
          <a:solidFill>
            <a:srgbClr val="55C4D8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7E5105-0806-48D3-AB9B-222352F60C1B}"/>
              </a:ext>
            </a:extLst>
          </p:cNvPr>
          <p:cNvSpPr>
            <a:spLocks noGrp="1"/>
          </p:cNvSpPr>
          <p:nvPr/>
        </p:nvSpPr>
        <p:spPr>
          <a:xfrm>
            <a:off x="666750" y="2867025"/>
            <a:ext cx="28765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7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משמאל: Nearest עם גבולות חדים.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094F9BC-9E65-4643-A34C-CF5A1D7772AD}"/>
              </a:ext>
            </a:extLst>
          </p:cNvPr>
          <p:cNvSpPr>
            <a:spLocks noGrp="1"/>
          </p:cNvSpPr>
          <p:nvPr/>
        </p:nvSpPr>
        <p:spPr>
          <a:xfrm>
            <a:off x="3676650" y="3038475"/>
            <a:ext cx="85725" cy="85725"/>
          </a:xfrm>
          <a:prstGeom prst="roundRect">
            <a:avLst>
              <a:gd name="adj" fmla="val 50000"/>
            </a:avLst>
          </a:prstGeom>
          <a:solidFill>
            <a:srgbClr val="F1C75B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40DA7B-C151-4AA7-BC20-ECC6942EBA1A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28765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7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מימין: Bilinear עם מעבר חלק.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041E485-2D3B-4C9B-A18D-B0D00A627908}"/>
              </a:ext>
            </a:extLst>
          </p:cNvPr>
          <p:cNvSpPr>
            <a:spLocks noGrp="1"/>
          </p:cNvSpPr>
          <p:nvPr/>
        </p:nvSpPr>
        <p:spPr>
          <a:xfrm>
            <a:off x="3676650" y="3762375"/>
            <a:ext cx="85725" cy="85725"/>
          </a:xfrm>
          <a:prstGeom prst="roundRect">
            <a:avLst>
              <a:gd name="adj" fmla="val 50000"/>
            </a:avLst>
          </a:prstGeom>
          <a:solidFill>
            <a:srgbClr val="F1C75B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C4B59A-64A8-4EC5-B006-D29AFDF3D303}"/>
              </a:ext>
            </a:extLst>
          </p:cNvPr>
          <p:cNvSpPr>
            <a:spLocks noGrp="1"/>
          </p:cNvSpPr>
          <p:nvPr/>
        </p:nvSpPr>
        <p:spPr>
          <a:xfrm>
            <a:off x="666750" y="4314825"/>
            <a:ext cx="28765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7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השוואה באותו חלון מונעת הבדלים בגודל או בתוכן.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9D7D7A-9920-4276-A8F7-34C8BDD1E1ED}"/>
              </a:ext>
            </a:extLst>
          </p:cNvPr>
          <p:cNvSpPr>
            <a:spLocks noGrp="1"/>
          </p:cNvSpPr>
          <p:nvPr/>
        </p:nvSpPr>
        <p:spPr>
          <a:xfrm>
            <a:off x="3676650" y="4486275"/>
            <a:ext cx="85725" cy="85725"/>
          </a:xfrm>
          <a:prstGeom prst="roundRect">
            <a:avLst>
              <a:gd name="adj" fmla="val 50000"/>
            </a:avLst>
          </a:prstGeom>
          <a:solidFill>
            <a:srgbClr val="F1C75B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21933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4D1B178-9CD9-4F49-9D69-9610706A0E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C5AA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A49367-A4F8-4512-B5C3-E4711DB2DAE8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25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מצב 4: הקטנת טקסטורה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56B8B2-D267-4EA4-856D-ECFDDBED4219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46505E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BA05F9-48A9-4E35-89C4-B46436FBA70C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rcRect l="42500" t="2000" r="1000" b="2000"/>
          <a:stretch/>
        </p:blipFill>
        <p:spPr>
          <a:xfrm>
            <a:off x="4000500" y="1333500"/>
            <a:ext cx="7524750" cy="4572000"/>
          </a:xfrm>
          <a:prstGeom prst="roundRect">
            <a:avLst>
              <a:gd name="adj" fmla="val 2500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C5DD753-152A-49E6-8503-16FA398FB075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2762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2250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4 / 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2DA846-3F69-47C9-A87F-8675F77440EF}"/>
              </a:ext>
            </a:extLst>
          </p:cNvPr>
          <p:cNvSpPr>
            <a:spLocks noGrp="1"/>
          </p:cNvSpPr>
          <p:nvPr/>
        </p:nvSpPr>
        <p:spPr>
          <a:xfrm>
            <a:off x="666750" y="1866900"/>
            <a:ext cx="2762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 fontScale="98204"/>
          </a:bodyPr>
          <a:lstStyle/>
          <a:p>
            <a:pPr algn="r">
              <a:lnSpc>
                <a:spcPct val="108000"/>
              </a:lnSpc>
              <a:buNone/>
              <a:defRPr sz="1650" b="1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C1CD"/>
                </a:solidFill>
                <a:latin typeface="Arial"/>
                <a:ea typeface="Arial"/>
                <a:cs typeface="Arial"/>
              </a:rPr>
              <a:t>Aliasing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6B4DC7-3D74-418A-9A83-F089159DC910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25908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6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טקסטורה צפופה בגודל 64×64 נדגמת לפלט קטן יותר.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5C13652-7894-4F13-97B6-BCD21E64E0CF}"/>
              </a:ext>
            </a:extLst>
          </p:cNvPr>
          <p:cNvSpPr>
            <a:spLocks noGrp="1"/>
          </p:cNvSpPr>
          <p:nvPr/>
        </p:nvSpPr>
        <p:spPr>
          <a:xfrm>
            <a:off x="3390900" y="23622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55C4D8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E7D63F-8187-4555-97E4-8D4D0F8AEC62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25908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 fontScale="98204"/>
          </a:bodyPr>
          <a:lstStyle/>
          <a:p>
            <a:pPr algn="r">
              <a:lnSpc>
                <a:spcPct val="108000"/>
              </a:lnSpc>
              <a:buNone/>
              <a:defRPr sz="16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Nearest יוצר דפוסים שגויים ואזורים גדולים שלא קיימים במקור.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7DFFD19-8EAB-4E7D-AC93-33C6834D498D}"/>
              </a:ext>
            </a:extLst>
          </p:cNvPr>
          <p:cNvSpPr>
            <a:spLocks noGrp="1"/>
          </p:cNvSpPr>
          <p:nvPr/>
        </p:nvSpPr>
        <p:spPr>
          <a:xfrm>
            <a:off x="3390900" y="32956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F1C75B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3FB070-2840-4B27-9796-A5D296E8CDBE}"/>
              </a:ext>
            </a:extLst>
          </p:cNvPr>
          <p:cNvSpPr>
            <a:spLocks noGrp="1"/>
          </p:cNvSpPr>
          <p:nvPr/>
        </p:nvSpPr>
        <p:spPr>
          <a:xfrm>
            <a:off x="666750" y="4057650"/>
            <a:ext cx="25908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6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גם Bilinear לבדו מאבד מידע בזמן הקטנה חזקה.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7608D87-9104-493E-8C4C-37ED1BFB9AF7}"/>
              </a:ext>
            </a:extLst>
          </p:cNvPr>
          <p:cNvSpPr>
            <a:spLocks noGrp="1"/>
          </p:cNvSpPr>
          <p:nvPr/>
        </p:nvSpPr>
        <p:spPr>
          <a:xfrm>
            <a:off x="3390900" y="42291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F1C75B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D05DDD-485A-4EA0-95DF-527CC6B62850}"/>
              </a:ext>
            </a:extLst>
          </p:cNvPr>
          <p:cNvSpPr>
            <a:spLocks noGrp="1"/>
          </p:cNvSpPr>
          <p:nvPr/>
        </p:nvSpPr>
        <p:spPr>
          <a:xfrm>
            <a:off x="666750" y="5286375"/>
            <a:ext cx="2857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00" b="1">
                <a:solidFill>
                  <a:srgbClr val="F1C7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C75B"/>
                </a:solidFill>
                <a:latin typeface="Arial"/>
                <a:ea typeface="Arial"/>
                <a:cs typeface="Arial"/>
              </a:rPr>
              <a:t>המסקנה: החלקה מקומית אינה מספיקה כאשר פיקסל אחד מייצג שטח גדול בטקסטורה.</a:t>
            </a:r>
          </a:p>
        </p:txBody>
      </p:sp>
    </p:spTree>
    <p:extLst>
      <p:ext uri="{BB962C8B-B14F-4D97-AF65-F5344CB8AC3E}">
        <p14:creationId xmlns:p14="http://schemas.microsoft.com/office/powerpoint/2010/main" val="1836796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13A4F4B-108E-4481-BA02-E9DF4EFA62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C5AA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A37E9F-4FF1-461F-9441-3455189DC93A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25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מצב 5: השוואת שיטות בהקטנה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17A478-9602-4C09-A4C8-93C572CBF8CB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46505E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ECF9F8-9E8D-4A4B-94E3-314F0756E91C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rcRect l="42500" t="2000" r="1000" b="2000"/>
          <a:stretch/>
        </p:blipFill>
        <p:spPr>
          <a:xfrm>
            <a:off x="4095750" y="1333500"/>
            <a:ext cx="7429500" cy="4572000"/>
          </a:xfrm>
          <a:prstGeom prst="roundRect">
            <a:avLst>
              <a:gd name="adj" fmla="val 2500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0B3303E-51A3-4E2C-84DE-3F399F16B8E9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2250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5 / 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6C2E27-9B92-46A0-9D0E-BB4068E797B1}"/>
              </a:ext>
            </a:extLst>
          </p:cNvPr>
          <p:cNvSpPr>
            <a:spLocks noGrp="1"/>
          </p:cNvSpPr>
          <p:nvPr/>
        </p:nvSpPr>
        <p:spPr>
          <a:xfrm>
            <a:off x="666750" y="18669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75" b="1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C1CD"/>
                </a:solidFill>
                <a:latin typeface="Arial"/>
                <a:ea typeface="Arial"/>
                <a:cs typeface="Arial"/>
              </a:rPr>
              <a:t>Bilinear   /   Mipmap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2B1DF3-F700-4A2C-A5C6-0983864DC84F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2733675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7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בצד שמאל מתבצעת דגימת Bilinear ישירות מהטקסטורה המקורית.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3833E3B-18A7-45F0-ADCF-83C37F794DB9}"/>
              </a:ext>
            </a:extLst>
          </p:cNvPr>
          <p:cNvSpPr>
            <a:spLocks noGrp="1"/>
          </p:cNvSpPr>
          <p:nvPr/>
        </p:nvSpPr>
        <p:spPr>
          <a:xfrm>
            <a:off x="3533775" y="2314575"/>
            <a:ext cx="85725" cy="85725"/>
          </a:xfrm>
          <a:prstGeom prst="roundRect">
            <a:avLst>
              <a:gd name="adj" fmla="val 50000"/>
            </a:avLst>
          </a:prstGeom>
          <a:solidFill>
            <a:srgbClr val="55C4D8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3E2CEF-F6EE-40D2-8F92-E22D8C01531E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2733675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7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בצד ימין מוצגת רמת Mipmap בגודל 32×32.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81742FC-FFEE-4985-9DB9-98C1D4265513}"/>
              </a:ext>
            </a:extLst>
          </p:cNvPr>
          <p:cNvSpPr>
            <a:spLocks noGrp="1"/>
          </p:cNvSpPr>
          <p:nvPr/>
        </p:nvSpPr>
        <p:spPr>
          <a:xfrm>
            <a:off x="3533775" y="33147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F1C75B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F271C4-449B-4670-8A56-8502DA5AA2A8}"/>
              </a:ext>
            </a:extLst>
          </p:cNvPr>
          <p:cNvSpPr>
            <a:spLocks noGrp="1"/>
          </p:cNvSpPr>
          <p:nvPr/>
        </p:nvSpPr>
        <p:spPr>
          <a:xfrm>
            <a:off x="666750" y="4143375"/>
            <a:ext cx="2733675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7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הרמה נוצרה מממוצע של כל בלוק 2×2 ברמה הקודמת.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D1F3E05-13CA-438F-AE07-AEBFDE135810}"/>
              </a:ext>
            </a:extLst>
          </p:cNvPr>
          <p:cNvSpPr>
            <a:spLocks noGrp="1"/>
          </p:cNvSpPr>
          <p:nvPr/>
        </p:nvSpPr>
        <p:spPr>
          <a:xfrm>
            <a:off x="3533775" y="4314825"/>
            <a:ext cx="85725" cy="85725"/>
          </a:xfrm>
          <a:prstGeom prst="roundRect">
            <a:avLst>
              <a:gd name="adj" fmla="val 50000"/>
            </a:avLst>
          </a:prstGeom>
          <a:solidFill>
            <a:srgbClr val="F1C75B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7942A6-04A1-45AC-B396-B4A9ACF5064C}"/>
              </a:ext>
            </a:extLst>
          </p:cNvPr>
          <p:cNvSpPr>
            <a:spLocks noGrp="1"/>
          </p:cNvSpPr>
          <p:nvPr/>
        </p:nvSpPr>
        <p:spPr>
          <a:xfrm>
            <a:off x="666750" y="5334000"/>
            <a:ext cx="300037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 fontScale="90021"/>
          </a:bodyPr>
          <a:lstStyle/>
          <a:p>
            <a:pPr algn="r">
              <a:lnSpc>
                <a:spcPct val="108000"/>
              </a:lnSpc>
              <a:buNone/>
              <a:defRPr sz="1500" b="1">
                <a:solidFill>
                  <a:srgbClr val="F1C7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C75B"/>
                </a:solidFill>
                <a:latin typeface="Arial"/>
                <a:ea typeface="Arial"/>
                <a:cs typeface="Arial"/>
              </a:rPr>
              <a:t>הצבע האחיד בצד הימני הוא תוצאה נכונה: כל אזור מכיל כמות שווה של כחול ולבן.</a:t>
            </a:r>
          </a:p>
        </p:txBody>
      </p:sp>
    </p:spTree>
    <p:extLst>
      <p:ext uri="{BB962C8B-B14F-4D97-AF65-F5344CB8AC3E}">
        <p14:creationId xmlns:p14="http://schemas.microsoft.com/office/powerpoint/2010/main" val="1128461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6953FEA-AF82-4E92-830C-9CEE59421F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C5AA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50FB3F-4A02-4106-9692-A643FE66EB68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25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מצב 6: שרשרת רמות מלאה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5B2A52-6F41-4A45-ABA8-31D955957EB0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46505E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3B2157-5DD6-4193-B639-A4152B4DFBB8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rcRect l="42500" t="2000" r="1000" b="2000"/>
          <a:stretch/>
        </p:blipFill>
        <p:spPr>
          <a:xfrm>
            <a:off x="3429000" y="1285875"/>
            <a:ext cx="8096250" cy="4762500"/>
          </a:xfrm>
          <a:prstGeom prst="roundRect">
            <a:avLst>
              <a:gd name="adj" fmla="val 2400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AC9EFA5-6215-4752-AF48-80177A637876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2250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6 / 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C28BAE-5A76-4140-97FC-BF5BE8FA68BE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21145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נוצרות שבע רמות: 64, 32, 16, 8, 4, 2 ו־1.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9F800A7-4168-4753-9B5D-240729DBDF39}"/>
              </a:ext>
            </a:extLst>
          </p:cNvPr>
          <p:cNvSpPr>
            <a:spLocks noGrp="1"/>
          </p:cNvSpPr>
          <p:nvPr/>
        </p:nvSpPr>
        <p:spPr>
          <a:xfrm>
            <a:off x="2914650" y="2409825"/>
            <a:ext cx="85725" cy="85725"/>
          </a:xfrm>
          <a:prstGeom prst="roundRect">
            <a:avLst>
              <a:gd name="adj" fmla="val 50000"/>
            </a:avLst>
          </a:prstGeom>
          <a:solidFill>
            <a:srgbClr val="55C4D8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EEEFA9-49EE-41E9-9C40-2001449EE926}"/>
              </a:ext>
            </a:extLst>
          </p:cNvPr>
          <p:cNvSpPr>
            <a:spLocks noGrp="1"/>
          </p:cNvSpPr>
          <p:nvPr/>
        </p:nvSpPr>
        <p:spPr>
          <a:xfrm>
            <a:off x="666750" y="3028950"/>
            <a:ext cx="21145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כל רמה קטנה בחצי ונבנית מהרמה שלפניה.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D36BDB-3F88-4183-B2AB-AF0D4A8E3938}"/>
              </a:ext>
            </a:extLst>
          </p:cNvPr>
          <p:cNvSpPr>
            <a:spLocks noGrp="1"/>
          </p:cNvSpPr>
          <p:nvPr/>
        </p:nvSpPr>
        <p:spPr>
          <a:xfrm>
            <a:off x="2914650" y="32004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F1C75B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36737C-9210-44A3-9C0D-E2731FE14624}"/>
              </a:ext>
            </a:extLst>
          </p:cNvPr>
          <p:cNvSpPr>
            <a:spLocks noGrp="1"/>
          </p:cNvSpPr>
          <p:nvPr/>
        </p:nvSpPr>
        <p:spPr>
          <a:xfrm>
            <a:off x="666750" y="3819525"/>
            <a:ext cx="21145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ככל שהרמה קטנה, הפרטים נעלמים בהדרגה.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E4D3B75-9EDB-46C8-9B1E-8349A7C5FFEA}"/>
              </a:ext>
            </a:extLst>
          </p:cNvPr>
          <p:cNvSpPr>
            <a:spLocks noGrp="1"/>
          </p:cNvSpPr>
          <p:nvPr/>
        </p:nvSpPr>
        <p:spPr>
          <a:xfrm>
            <a:off x="2914650" y="3990975"/>
            <a:ext cx="85725" cy="85725"/>
          </a:xfrm>
          <a:prstGeom prst="roundRect">
            <a:avLst>
              <a:gd name="adj" fmla="val 50000"/>
            </a:avLst>
          </a:prstGeom>
          <a:solidFill>
            <a:srgbClr val="F1C75B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716F8C-6B88-452E-8439-CFA3FA12EFDA}"/>
              </a:ext>
            </a:extLst>
          </p:cNvPr>
          <p:cNvSpPr>
            <a:spLocks noGrp="1"/>
          </p:cNvSpPr>
          <p:nvPr/>
        </p:nvSpPr>
        <p:spPr>
          <a:xfrm>
            <a:off x="666750" y="4610100"/>
            <a:ext cx="21145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הכיתוב מתחת לכל תמונה מציג את המידה שלה.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DE48D5A-B333-42FA-9666-30E2AA2597F0}"/>
              </a:ext>
            </a:extLst>
          </p:cNvPr>
          <p:cNvSpPr>
            <a:spLocks noGrp="1"/>
          </p:cNvSpPr>
          <p:nvPr/>
        </p:nvSpPr>
        <p:spPr>
          <a:xfrm>
            <a:off x="2914650" y="47815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F1C75B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24418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F9A458B-885C-480A-9AFA-DA93182666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C5AA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C743E0-E48C-4162-9898-4919619EB350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25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מצב 7: בחירת רמה אוטומטית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6F6105-4EEE-4AF0-AE59-565F8BE53014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46505E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ECC34D-5EB9-41A4-9E33-978644811F67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rcRect l="42500" t="2000" r="1000" b="2000"/>
          <a:stretch/>
        </p:blipFill>
        <p:spPr>
          <a:xfrm>
            <a:off x="4000500" y="1285875"/>
            <a:ext cx="7524750" cy="4762500"/>
          </a:xfrm>
          <a:prstGeom prst="roundRect">
            <a:avLst>
              <a:gd name="adj" fmla="val 2400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D99B96-AEF7-49D8-AA5A-76BF2968C100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2250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7 /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551EB6-DD4E-4CD3-BB4E-A739B272D6DC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2638425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7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הפונקציה chooseMipLevel מקבלת את גודל הפלט.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62D204-FDC3-4E09-A920-40755FBB7C1E}"/>
              </a:ext>
            </a:extLst>
          </p:cNvPr>
          <p:cNvSpPr>
            <a:spLocks noGrp="1"/>
          </p:cNvSpPr>
          <p:nvPr/>
        </p:nvSpPr>
        <p:spPr>
          <a:xfrm>
            <a:off x="3438525" y="2409825"/>
            <a:ext cx="85725" cy="85725"/>
          </a:xfrm>
          <a:prstGeom prst="roundRect">
            <a:avLst>
              <a:gd name="adj" fmla="val 50000"/>
            </a:avLst>
          </a:prstGeom>
          <a:solidFill>
            <a:srgbClr val="55C4D8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D91DB5-97E1-4D84-B34A-5967536FBE75}"/>
              </a:ext>
            </a:extLst>
          </p:cNvPr>
          <p:cNvSpPr>
            <a:spLocks noGrp="1"/>
          </p:cNvSpPr>
          <p:nvPr/>
        </p:nvSpPr>
        <p:spPr>
          <a:xfrm>
            <a:off x="666750" y="3209925"/>
            <a:ext cx="2638425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7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התוכנית בוחרת רמה קרובה לגודל המבוקש.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10B0C70-FAE1-40D9-A4AE-63F2E5DE46A6}"/>
              </a:ext>
            </a:extLst>
          </p:cNvPr>
          <p:cNvSpPr>
            <a:spLocks noGrp="1"/>
          </p:cNvSpPr>
          <p:nvPr/>
        </p:nvSpPr>
        <p:spPr>
          <a:xfrm>
            <a:off x="3438525" y="3381375"/>
            <a:ext cx="85725" cy="85725"/>
          </a:xfrm>
          <a:prstGeom prst="roundRect">
            <a:avLst>
              <a:gd name="adj" fmla="val 50000"/>
            </a:avLst>
          </a:prstGeom>
          <a:solidFill>
            <a:srgbClr val="F1C75B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B37C7E-FDA1-4DFD-8295-2875CB5B9080}"/>
              </a:ext>
            </a:extLst>
          </p:cNvPr>
          <p:cNvSpPr>
            <a:spLocks noGrp="1"/>
          </p:cNvSpPr>
          <p:nvPr/>
        </p:nvSpPr>
        <p:spPr>
          <a:xfrm>
            <a:off x="666750" y="4181475"/>
            <a:ext cx="2638425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7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החלון מציג ארבע דוגמאות ואת הרמה שנבחרה לכל אחת.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DB8E2DA-DB8A-46CB-8716-CBE3B712E801}"/>
              </a:ext>
            </a:extLst>
          </p:cNvPr>
          <p:cNvSpPr>
            <a:spLocks noGrp="1"/>
          </p:cNvSpPr>
          <p:nvPr/>
        </p:nvSpPr>
        <p:spPr>
          <a:xfrm>
            <a:off x="3438525" y="4352925"/>
            <a:ext cx="85725" cy="85725"/>
          </a:xfrm>
          <a:prstGeom prst="roundRect">
            <a:avLst>
              <a:gd name="adj" fmla="val 50000"/>
            </a:avLst>
          </a:prstGeom>
          <a:solidFill>
            <a:srgbClr val="F1C75B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BD4580-E9B8-447C-88A1-5AF0257E552D}"/>
              </a:ext>
            </a:extLst>
          </p:cNvPr>
          <p:cNvSpPr>
            <a:spLocks noGrp="1"/>
          </p:cNvSpPr>
          <p:nvPr/>
        </p:nvSpPr>
        <p:spPr>
          <a:xfrm>
            <a:off x="666750" y="5191125"/>
            <a:ext cx="29051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00" b="1">
                <a:solidFill>
                  <a:srgbClr val="F1C7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C75B"/>
                </a:solidFill>
                <a:latin typeface="Arial"/>
                <a:ea typeface="Arial"/>
                <a:cs typeface="Arial"/>
              </a:rPr>
              <a:t>לדוגמה: פלט 16 משתמש ברמת Mipmap בגודל 16.</a:t>
            </a:r>
          </a:p>
        </p:txBody>
      </p:sp>
    </p:spTree>
    <p:extLst>
      <p:ext uri="{BB962C8B-B14F-4D97-AF65-F5344CB8AC3E}">
        <p14:creationId xmlns:p14="http://schemas.microsoft.com/office/powerpoint/2010/main" val="293687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1D51103D-A89C-4220-AD1B-A5EBDA3018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C5AA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E7B080-4A91-4310-8971-104752FCD41B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25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מצב 8: שינוי גודל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6976FF-9A88-4B1F-A64B-F94B96862ACC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46505E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63A70E-74B3-48A6-9D2F-BC30CD02E9EB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rcRect l="42500" t="2000" r="1000" b="2000"/>
          <a:stretch/>
        </p:blipFill>
        <p:spPr>
          <a:xfrm>
            <a:off x="6238875" y="1476375"/>
            <a:ext cx="5286375" cy="3333750"/>
          </a:xfrm>
          <a:prstGeom prst="roundRect">
            <a:avLst>
              <a:gd name="adj" fmla="val 3429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2A9EB07-0FB7-4B2E-ACAA-55DA82FE2AD8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5048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2250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8 / 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595789-C64F-46C8-9669-AC3A8BB916DC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50482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7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החצים משנים את גודל הפלט. בכל שינוי התוכנית מפעילה מחדש את בחירת הרמה האוטומטית.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A2144C-48B6-4045-A9FC-8F7267DAE220}"/>
              </a:ext>
            </a:extLst>
          </p:cNvPr>
          <p:cNvSpPr>
            <a:spLocks noGrp="1"/>
          </p:cNvSpPr>
          <p:nvPr/>
        </p:nvSpPr>
        <p:spPr>
          <a:xfrm>
            <a:off x="666750" y="2524125"/>
            <a:ext cx="504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00" b="1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C1CD"/>
                </a:solidFill>
                <a:latin typeface="Arial"/>
                <a:ea typeface="Arial"/>
                <a:cs typeface="Arial"/>
              </a:rPr>
              <a:t>Up / Down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20BEC6-508B-4A3E-831C-8DCB04271532}"/>
              </a:ext>
            </a:extLst>
          </p:cNvPr>
          <p:cNvSpPr>
            <a:spLocks noGrp="1"/>
          </p:cNvSpPr>
          <p:nvPr/>
        </p:nvSpPr>
        <p:spPr>
          <a:xfrm>
            <a:off x="666750" y="3048000"/>
            <a:ext cx="5048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725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כל גדלי הפלט והרמות שנבחרות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A004A4E-720E-4A46-A4EB-F7C586B36B35}"/>
              </a:ext>
            </a:extLst>
          </p:cNvPr>
          <p:cNvSpPr>
            <a:spLocks noGrp="1"/>
          </p:cNvSpPr>
          <p:nvPr/>
        </p:nvSpPr>
        <p:spPr>
          <a:xfrm>
            <a:off x="666750" y="3571875"/>
            <a:ext cx="2333625" cy="428625"/>
          </a:xfrm>
          <a:prstGeom prst="roundRect">
            <a:avLst>
              <a:gd name="adj" fmla="val 17778"/>
            </a:avLst>
          </a:prstGeom>
          <a:solidFill>
            <a:srgbClr val="2B334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378C33-48E2-419D-B139-4A4FCEBFC52F}"/>
              </a:ext>
            </a:extLst>
          </p:cNvPr>
          <p:cNvSpPr>
            <a:spLocks noGrp="1"/>
          </p:cNvSpPr>
          <p:nvPr/>
        </p:nvSpPr>
        <p:spPr>
          <a:xfrm>
            <a:off x="781050" y="3600450"/>
            <a:ext cx="11906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OUTPUT 512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CC3977-9824-46A1-86AF-A572545344F5}"/>
              </a:ext>
            </a:extLst>
          </p:cNvPr>
          <p:cNvSpPr>
            <a:spLocks noGrp="1"/>
          </p:cNvSpPr>
          <p:nvPr/>
        </p:nvSpPr>
        <p:spPr>
          <a:xfrm>
            <a:off x="2000250" y="3600450"/>
            <a:ext cx="857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350" b="1">
                <a:solidFill>
                  <a:srgbClr val="F1C7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C75B"/>
                </a:solidFill>
                <a:latin typeface="Arial"/>
                <a:ea typeface="Arial"/>
                <a:cs typeface="Arial"/>
              </a:rPr>
              <a:t>MIP 64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20EB7CD-615D-42BD-9AD6-FB4AE2BB4B39}"/>
              </a:ext>
            </a:extLst>
          </p:cNvPr>
          <p:cNvSpPr>
            <a:spLocks noGrp="1"/>
          </p:cNvSpPr>
          <p:nvPr/>
        </p:nvSpPr>
        <p:spPr>
          <a:xfrm>
            <a:off x="666750" y="4124325"/>
            <a:ext cx="2333625" cy="428625"/>
          </a:xfrm>
          <a:prstGeom prst="roundRect">
            <a:avLst>
              <a:gd name="adj" fmla="val 17778"/>
            </a:avLst>
          </a:prstGeom>
          <a:solidFill>
            <a:srgbClr val="252D38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EB86E3-1113-4CE1-98A0-596380EF980B}"/>
              </a:ext>
            </a:extLst>
          </p:cNvPr>
          <p:cNvSpPr>
            <a:spLocks noGrp="1"/>
          </p:cNvSpPr>
          <p:nvPr/>
        </p:nvSpPr>
        <p:spPr>
          <a:xfrm>
            <a:off x="781050" y="4152900"/>
            <a:ext cx="11906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OUTPUT 256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69697B-B7DC-41FC-9ED9-E8E2EA5F045F}"/>
              </a:ext>
            </a:extLst>
          </p:cNvPr>
          <p:cNvSpPr>
            <a:spLocks noGrp="1"/>
          </p:cNvSpPr>
          <p:nvPr/>
        </p:nvSpPr>
        <p:spPr>
          <a:xfrm>
            <a:off x="2000250" y="4152900"/>
            <a:ext cx="857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350" b="1">
                <a:solidFill>
                  <a:srgbClr val="F1C7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C75B"/>
                </a:solidFill>
                <a:latin typeface="Arial"/>
                <a:ea typeface="Arial"/>
                <a:cs typeface="Arial"/>
              </a:rPr>
              <a:t>MIP 64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DF227D9-92F5-4F16-9E2F-F595523A3AAB}"/>
              </a:ext>
            </a:extLst>
          </p:cNvPr>
          <p:cNvSpPr>
            <a:spLocks noGrp="1"/>
          </p:cNvSpPr>
          <p:nvPr/>
        </p:nvSpPr>
        <p:spPr>
          <a:xfrm>
            <a:off x="666750" y="4676775"/>
            <a:ext cx="2333625" cy="428625"/>
          </a:xfrm>
          <a:prstGeom prst="roundRect">
            <a:avLst>
              <a:gd name="adj" fmla="val 17778"/>
            </a:avLst>
          </a:prstGeom>
          <a:solidFill>
            <a:srgbClr val="2B334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152194-ED85-4A65-82F7-8C67751AC061}"/>
              </a:ext>
            </a:extLst>
          </p:cNvPr>
          <p:cNvSpPr>
            <a:spLocks noGrp="1"/>
          </p:cNvSpPr>
          <p:nvPr/>
        </p:nvSpPr>
        <p:spPr>
          <a:xfrm>
            <a:off x="781050" y="4705350"/>
            <a:ext cx="11906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OUTPUT 128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354E46-786D-4C13-B401-41B65A036EEC}"/>
              </a:ext>
            </a:extLst>
          </p:cNvPr>
          <p:cNvSpPr>
            <a:spLocks noGrp="1"/>
          </p:cNvSpPr>
          <p:nvPr/>
        </p:nvSpPr>
        <p:spPr>
          <a:xfrm>
            <a:off x="2000250" y="4705350"/>
            <a:ext cx="857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350" b="1">
                <a:solidFill>
                  <a:srgbClr val="F1C7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C75B"/>
                </a:solidFill>
                <a:latin typeface="Arial"/>
                <a:ea typeface="Arial"/>
                <a:cs typeface="Arial"/>
              </a:rPr>
              <a:t>MIP 64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B84E994-1D4F-45A9-908E-998E328A9DC9}"/>
              </a:ext>
            </a:extLst>
          </p:cNvPr>
          <p:cNvSpPr>
            <a:spLocks noGrp="1"/>
          </p:cNvSpPr>
          <p:nvPr/>
        </p:nvSpPr>
        <p:spPr>
          <a:xfrm>
            <a:off x="666750" y="5229225"/>
            <a:ext cx="2333625" cy="428625"/>
          </a:xfrm>
          <a:prstGeom prst="roundRect">
            <a:avLst>
              <a:gd name="adj" fmla="val 17778"/>
            </a:avLst>
          </a:prstGeom>
          <a:solidFill>
            <a:srgbClr val="252D38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7237A3-DE82-44B2-857F-A04865C6425B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11906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OUTPUT 64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1889EE-F249-4F9A-88C4-909B8D9F86E1}"/>
              </a:ext>
            </a:extLst>
          </p:cNvPr>
          <p:cNvSpPr>
            <a:spLocks noGrp="1"/>
          </p:cNvSpPr>
          <p:nvPr/>
        </p:nvSpPr>
        <p:spPr>
          <a:xfrm>
            <a:off x="2000250" y="5257800"/>
            <a:ext cx="857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350" b="1">
                <a:solidFill>
                  <a:srgbClr val="F1C7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C75B"/>
                </a:solidFill>
                <a:latin typeface="Arial"/>
                <a:ea typeface="Arial"/>
                <a:cs typeface="Arial"/>
              </a:rPr>
              <a:t>MIP 64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1274323-C02F-4D43-BAD9-610A420FD7D3}"/>
              </a:ext>
            </a:extLst>
          </p:cNvPr>
          <p:cNvSpPr>
            <a:spLocks noGrp="1"/>
          </p:cNvSpPr>
          <p:nvPr/>
        </p:nvSpPr>
        <p:spPr>
          <a:xfrm>
            <a:off x="3238500" y="3571875"/>
            <a:ext cx="2333625" cy="428625"/>
          </a:xfrm>
          <a:prstGeom prst="roundRect">
            <a:avLst>
              <a:gd name="adj" fmla="val 17778"/>
            </a:avLst>
          </a:prstGeom>
          <a:solidFill>
            <a:srgbClr val="2B334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983955-EEE0-4DB8-A4E8-70EFB9143361}"/>
              </a:ext>
            </a:extLst>
          </p:cNvPr>
          <p:cNvSpPr>
            <a:spLocks noGrp="1"/>
          </p:cNvSpPr>
          <p:nvPr/>
        </p:nvSpPr>
        <p:spPr>
          <a:xfrm>
            <a:off x="3352800" y="3600450"/>
            <a:ext cx="11906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OUTPUT 32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774432-8E55-4436-8E12-C7867109E32B}"/>
              </a:ext>
            </a:extLst>
          </p:cNvPr>
          <p:cNvSpPr>
            <a:spLocks noGrp="1"/>
          </p:cNvSpPr>
          <p:nvPr/>
        </p:nvSpPr>
        <p:spPr>
          <a:xfrm>
            <a:off x="4572000" y="3600450"/>
            <a:ext cx="857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350" b="1">
                <a:solidFill>
                  <a:srgbClr val="F1C7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C75B"/>
                </a:solidFill>
                <a:latin typeface="Arial"/>
                <a:ea typeface="Arial"/>
                <a:cs typeface="Arial"/>
              </a:rPr>
              <a:t>MIP 32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1BD01FB-42A8-41D8-8140-E83D9D8476AA}"/>
              </a:ext>
            </a:extLst>
          </p:cNvPr>
          <p:cNvSpPr>
            <a:spLocks noGrp="1"/>
          </p:cNvSpPr>
          <p:nvPr/>
        </p:nvSpPr>
        <p:spPr>
          <a:xfrm>
            <a:off x="3238500" y="4124325"/>
            <a:ext cx="2333625" cy="428625"/>
          </a:xfrm>
          <a:prstGeom prst="roundRect">
            <a:avLst>
              <a:gd name="adj" fmla="val 17778"/>
            </a:avLst>
          </a:prstGeom>
          <a:solidFill>
            <a:srgbClr val="252D38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349CC3-C365-41F6-9CE9-CA089E285DB8}"/>
              </a:ext>
            </a:extLst>
          </p:cNvPr>
          <p:cNvSpPr>
            <a:spLocks noGrp="1"/>
          </p:cNvSpPr>
          <p:nvPr/>
        </p:nvSpPr>
        <p:spPr>
          <a:xfrm>
            <a:off x="3352800" y="4152900"/>
            <a:ext cx="11906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OUTPUT 16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8D76CA-C891-4FAC-B3E0-722C6A773068}"/>
              </a:ext>
            </a:extLst>
          </p:cNvPr>
          <p:cNvSpPr>
            <a:spLocks noGrp="1"/>
          </p:cNvSpPr>
          <p:nvPr/>
        </p:nvSpPr>
        <p:spPr>
          <a:xfrm>
            <a:off x="4572000" y="4152900"/>
            <a:ext cx="857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350" b="1">
                <a:solidFill>
                  <a:srgbClr val="F1C7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C75B"/>
                </a:solidFill>
                <a:latin typeface="Arial"/>
                <a:ea typeface="Arial"/>
                <a:cs typeface="Arial"/>
              </a:rPr>
              <a:t>MIP 16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64681A6-915E-41C6-ACF7-A411809A7558}"/>
              </a:ext>
            </a:extLst>
          </p:cNvPr>
          <p:cNvSpPr>
            <a:spLocks noGrp="1"/>
          </p:cNvSpPr>
          <p:nvPr/>
        </p:nvSpPr>
        <p:spPr>
          <a:xfrm>
            <a:off x="3238500" y="4676775"/>
            <a:ext cx="2333625" cy="428625"/>
          </a:xfrm>
          <a:prstGeom prst="roundRect">
            <a:avLst>
              <a:gd name="adj" fmla="val 17778"/>
            </a:avLst>
          </a:prstGeom>
          <a:solidFill>
            <a:srgbClr val="2B334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9FAC40-7C71-4B34-B53D-1976EE7C8AA2}"/>
              </a:ext>
            </a:extLst>
          </p:cNvPr>
          <p:cNvSpPr>
            <a:spLocks noGrp="1"/>
          </p:cNvSpPr>
          <p:nvPr/>
        </p:nvSpPr>
        <p:spPr>
          <a:xfrm>
            <a:off x="3352800" y="4705350"/>
            <a:ext cx="11906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OUTPUT 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AB0386-336C-4548-AF00-564E0C2A59FD}"/>
              </a:ext>
            </a:extLst>
          </p:cNvPr>
          <p:cNvSpPr>
            <a:spLocks noGrp="1"/>
          </p:cNvSpPr>
          <p:nvPr/>
        </p:nvSpPr>
        <p:spPr>
          <a:xfrm>
            <a:off x="4572000" y="4705350"/>
            <a:ext cx="857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350" b="1">
                <a:solidFill>
                  <a:srgbClr val="F1C7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C75B"/>
                </a:solidFill>
                <a:latin typeface="Arial"/>
                <a:ea typeface="Arial"/>
                <a:cs typeface="Arial"/>
              </a:rPr>
              <a:t>MIP 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6B205CC-639B-4F5D-AC6F-8E56F039D44C}"/>
              </a:ext>
            </a:extLst>
          </p:cNvPr>
          <p:cNvSpPr>
            <a:spLocks noGrp="1"/>
          </p:cNvSpPr>
          <p:nvPr/>
        </p:nvSpPr>
        <p:spPr>
          <a:xfrm>
            <a:off x="6191250" y="5095875"/>
            <a:ext cx="5334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 fontScale="97047"/>
          </a:bodyPr>
          <a:lstStyle/>
          <a:p>
            <a:pPr algn="r">
              <a:lnSpc>
                <a:spcPct val="108000"/>
              </a:lnSpc>
              <a:buNone/>
              <a:defRPr sz="1500" b="1">
                <a:solidFill>
                  <a:srgbClr val="F1C7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C75B"/>
                </a:solidFill>
                <a:latin typeface="Arial"/>
                <a:ea typeface="Arial"/>
                <a:cs typeface="Arial"/>
              </a:rPr>
              <a:t>כשהפלט גדול יותר, אין בטקסטורה רמה גבוהה יותר מהרמה המקורית.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E548097-09AC-428D-8F2A-0F8AC719C971}"/>
              </a:ext>
            </a:extLst>
          </p:cNvPr>
          <p:cNvSpPr>
            <a:spLocks noGrp="1"/>
          </p:cNvSpPr>
          <p:nvPr/>
        </p:nvSpPr>
        <p:spPr>
          <a:xfrm>
            <a:off x="6191250" y="554355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350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OUTPUT 64-512 uses MIP 64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AFC0E11-AE93-4BE6-BD21-9886FA7BBD01}"/>
              </a:ext>
            </a:extLst>
          </p:cNvPr>
          <p:cNvSpPr>
            <a:spLocks noGrp="1"/>
          </p:cNvSpPr>
          <p:nvPr/>
        </p:nvSpPr>
        <p:spPr>
          <a:xfrm>
            <a:off x="6238875" y="58102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350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בדוגמה שבתמונה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180452-887E-4F39-AF47-A577011344F2}"/>
              </a:ext>
            </a:extLst>
          </p:cNvPr>
          <p:cNvSpPr>
            <a:spLocks noGrp="1"/>
          </p:cNvSpPr>
          <p:nvPr/>
        </p:nvSpPr>
        <p:spPr>
          <a:xfrm>
            <a:off x="8382000" y="58102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 fontScale="97466"/>
          </a:bodyPr>
          <a:lstStyle/>
          <a:p>
            <a:pPr algn="r">
              <a:lnSpc>
                <a:spcPct val="108000"/>
              </a:lnSpc>
              <a:buNone/>
              <a:defRPr sz="1425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OUTPUT 32     MIP 32</a:t>
            </a:r>
          </a:p>
        </p:txBody>
      </p:sp>
    </p:spTree>
    <p:extLst>
      <p:ext uri="{BB962C8B-B14F-4D97-AF65-F5344CB8AC3E}">
        <p14:creationId xmlns:p14="http://schemas.microsoft.com/office/powerpoint/2010/main" val="1535241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29F0586-6B74-4C01-9483-F19E5C0EAA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C5AA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D27E67-FF87-4DC9-B636-1B43DF8696F6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25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מצב 9: השוואה בפרספקטיבה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6AB776-0C14-453F-AFD7-9D89B047E401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46505E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B92850-C939-4017-898A-F032654E5095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rcRect l="42500" t="2000" r="1000" b="2000"/>
          <a:stretch/>
        </p:blipFill>
        <p:spPr>
          <a:xfrm>
            <a:off x="3762375" y="1238250"/>
            <a:ext cx="7762875" cy="4905375"/>
          </a:xfrm>
          <a:prstGeom prst="roundRect">
            <a:avLst>
              <a:gd name="adj" fmla="val 2330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BEE0DB7-A501-4C7F-9629-519E2BC7FD09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26193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2250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9 / 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6EB230-F0AB-4FC9-B53D-4F77EBD33829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23526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המשטח מדמה רצפה שמתרחקת מהמצלמה.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423FBE-1773-42EC-B7B6-B9CFE1922C74}"/>
              </a:ext>
            </a:extLst>
          </p:cNvPr>
          <p:cNvSpPr>
            <a:spLocks noGrp="1"/>
          </p:cNvSpPr>
          <p:nvPr/>
        </p:nvSpPr>
        <p:spPr>
          <a:xfrm>
            <a:off x="3152775" y="2314575"/>
            <a:ext cx="85725" cy="85725"/>
          </a:xfrm>
          <a:prstGeom prst="roundRect">
            <a:avLst>
              <a:gd name="adj" fmla="val 50000"/>
            </a:avLst>
          </a:prstGeom>
          <a:solidFill>
            <a:srgbClr val="55C4D8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966882-F1D8-4E73-95CE-DD33F94E5AD2}"/>
              </a:ext>
            </a:extLst>
          </p:cNvPr>
          <p:cNvSpPr>
            <a:spLocks noGrp="1"/>
          </p:cNvSpPr>
          <p:nvPr/>
        </p:nvSpPr>
        <p:spPr>
          <a:xfrm>
            <a:off x="666750" y="2933700"/>
            <a:ext cx="23526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משמאל משתמשים תמיד ב־Bilinear מהמקור.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11A5CE2-2F5D-47F9-905D-51EC8ACFC04A}"/>
              </a:ext>
            </a:extLst>
          </p:cNvPr>
          <p:cNvSpPr>
            <a:spLocks noGrp="1"/>
          </p:cNvSpPr>
          <p:nvPr/>
        </p:nvSpPr>
        <p:spPr>
          <a:xfrm>
            <a:off x="3152775" y="31051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F1C75B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66AAA6-48D8-4D8D-9C5A-73E74DA33990}"/>
              </a:ext>
            </a:extLst>
          </p:cNvPr>
          <p:cNvSpPr>
            <a:spLocks noGrp="1"/>
          </p:cNvSpPr>
          <p:nvPr/>
        </p:nvSpPr>
        <p:spPr>
          <a:xfrm>
            <a:off x="666750" y="3724275"/>
            <a:ext cx="23526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מימין בוחרים Mipmap לפי רוחב כל שורה.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96A30E6-EDE3-46B5-BA15-677C0BAF170F}"/>
              </a:ext>
            </a:extLst>
          </p:cNvPr>
          <p:cNvSpPr>
            <a:spLocks noGrp="1"/>
          </p:cNvSpPr>
          <p:nvPr/>
        </p:nvSpPr>
        <p:spPr>
          <a:xfrm>
            <a:off x="3152775" y="3895725"/>
            <a:ext cx="85725" cy="85725"/>
          </a:xfrm>
          <a:prstGeom prst="roundRect">
            <a:avLst>
              <a:gd name="adj" fmla="val 50000"/>
            </a:avLst>
          </a:prstGeom>
          <a:solidFill>
            <a:srgbClr val="F1C75B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957F6F-3C08-47A7-B7F3-6533126022B9}"/>
              </a:ext>
            </a:extLst>
          </p:cNvPr>
          <p:cNvSpPr>
            <a:spLocks noGrp="1"/>
          </p:cNvSpPr>
          <p:nvPr/>
        </p:nvSpPr>
        <p:spPr>
          <a:xfrm>
            <a:off x="666750" y="4514850"/>
            <a:ext cx="23526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שורות רחוקות משתמשות ברמה קטנה יותר.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EB4094C-E254-4834-96EB-E97C305EED69}"/>
              </a:ext>
            </a:extLst>
          </p:cNvPr>
          <p:cNvSpPr>
            <a:spLocks noGrp="1"/>
          </p:cNvSpPr>
          <p:nvPr/>
        </p:nvSpPr>
        <p:spPr>
          <a:xfrm>
            <a:off x="3152775" y="46863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F1C75B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E361A8-0AB2-4FA6-86F2-D4382F6447BC}"/>
              </a:ext>
            </a:extLst>
          </p:cNvPr>
          <p:cNvSpPr>
            <a:spLocks noGrp="1"/>
          </p:cNvSpPr>
          <p:nvPr/>
        </p:nvSpPr>
        <p:spPr>
          <a:xfrm>
            <a:off x="666750" y="5381625"/>
            <a:ext cx="2619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425" b="1">
                <a:solidFill>
                  <a:srgbClr val="F1C75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1C75B"/>
                </a:solidFill>
                <a:latin typeface="Arial"/>
                <a:ea typeface="Arial"/>
                <a:cs typeface="Arial"/>
              </a:rPr>
              <a:t>זהו המצב הקרוב ביותר לשימוש אמיתי של Mipmaps במנוע גרפי.</a:t>
            </a:r>
          </a:p>
        </p:txBody>
      </p:sp>
    </p:spTree>
    <p:extLst>
      <p:ext uri="{BB962C8B-B14F-4D97-AF65-F5344CB8AC3E}">
        <p14:creationId xmlns:p14="http://schemas.microsoft.com/office/powerpoint/2010/main" val="23214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6B6C4703-7AA2-4413-B637-3312FF6112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C5AA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E9F87F-C371-46DD-8331-AA5694C78D40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25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תהליך הפיתוח: איטרציות 1–9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BB79E5-8A80-4A95-91E1-717FC5FE1D49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46505E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54D3A-B534-47CF-8A2F-01C57B374932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658003B-A489-4D3C-81D6-106A8066153F}"/>
              </a:ext>
            </a:extLst>
          </p:cNvPr>
          <p:cNvSpPr>
            <a:spLocks noGrp="1"/>
          </p:cNvSpPr>
          <p:nvPr/>
        </p:nvSpPr>
        <p:spPr>
          <a:xfrm>
            <a:off x="1047750" y="1333500"/>
            <a:ext cx="10096500" cy="438150"/>
          </a:xfrm>
          <a:prstGeom prst="roundRect">
            <a:avLst>
              <a:gd name="adj" fmla="val 17391"/>
            </a:avLst>
          </a:prstGeom>
          <a:solidFill>
            <a:srgbClr val="2B334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78F997-3293-4B6E-9687-2BF130E5A479}"/>
              </a:ext>
            </a:extLst>
          </p:cNvPr>
          <p:cNvSpPr>
            <a:spLocks noGrp="1"/>
          </p:cNvSpPr>
          <p:nvPr/>
        </p:nvSpPr>
        <p:spPr>
          <a:xfrm>
            <a:off x="1285875" y="135255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42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בסיס יציב להצגת framebuffer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A91DB3-8BBD-401B-8472-122384570F4A}"/>
              </a:ext>
            </a:extLst>
          </p:cNvPr>
          <p:cNvSpPr>
            <a:spLocks noGrp="1"/>
          </p:cNvSpPr>
          <p:nvPr/>
        </p:nvSpPr>
        <p:spPr>
          <a:xfrm>
            <a:off x="7715250" y="135255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425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Nearest Neighbor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3E30D9-FDC7-4C92-94E3-DED37AD1B21A}"/>
              </a:ext>
            </a:extLst>
          </p:cNvPr>
          <p:cNvSpPr>
            <a:spLocks noGrp="1"/>
          </p:cNvSpPr>
          <p:nvPr/>
        </p:nvSpPr>
        <p:spPr>
          <a:xfrm>
            <a:off x="10382250" y="1352550"/>
            <a:ext cx="47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F1C7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1C75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31680C-D0F3-4CCA-9680-69A2CE50BB17}"/>
              </a:ext>
            </a:extLst>
          </p:cNvPr>
          <p:cNvSpPr>
            <a:spLocks noGrp="1"/>
          </p:cNvSpPr>
          <p:nvPr/>
        </p:nvSpPr>
        <p:spPr>
          <a:xfrm>
            <a:off x="1285875" y="18669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42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ערבוב ארבעה טקסלים וקלט מקלדת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1E3350-63BA-41B6-9E16-E0341CA39EF1}"/>
              </a:ext>
            </a:extLst>
          </p:cNvPr>
          <p:cNvSpPr>
            <a:spLocks noGrp="1"/>
          </p:cNvSpPr>
          <p:nvPr/>
        </p:nvSpPr>
        <p:spPr>
          <a:xfrm>
            <a:off x="7715250" y="186690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425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Bilinear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669F36-F627-47D9-9686-FD5BFD62E4FC}"/>
              </a:ext>
            </a:extLst>
          </p:cNvPr>
          <p:cNvSpPr>
            <a:spLocks noGrp="1"/>
          </p:cNvSpPr>
          <p:nvPr/>
        </p:nvSpPr>
        <p:spPr>
          <a:xfrm>
            <a:off x="10382250" y="1866900"/>
            <a:ext cx="47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F1C7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1C75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0A269DB-9725-4E5F-9B5E-4BC4342A6BBC}"/>
              </a:ext>
            </a:extLst>
          </p:cNvPr>
          <p:cNvSpPr>
            <a:spLocks noGrp="1"/>
          </p:cNvSpPr>
          <p:nvPr/>
        </p:nvSpPr>
        <p:spPr>
          <a:xfrm>
            <a:off x="1047750" y="2362200"/>
            <a:ext cx="10096500" cy="438150"/>
          </a:xfrm>
          <a:prstGeom prst="roundRect">
            <a:avLst>
              <a:gd name="adj" fmla="val 17391"/>
            </a:avLst>
          </a:prstGeom>
          <a:solidFill>
            <a:srgbClr val="2B334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F4573C-9599-49D8-83D1-0102A5DD22F0}"/>
              </a:ext>
            </a:extLst>
          </p:cNvPr>
          <p:cNvSpPr>
            <a:spLocks noGrp="1"/>
          </p:cNvSpPr>
          <p:nvPr/>
        </p:nvSpPr>
        <p:spPr>
          <a:xfrm>
            <a:off x="1285875" y="238125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42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השוואה זו לצד זו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6AF895-BF0A-460A-BF88-E60E78470152}"/>
              </a:ext>
            </a:extLst>
          </p:cNvPr>
          <p:cNvSpPr>
            <a:spLocks noGrp="1"/>
          </p:cNvSpPr>
          <p:nvPr/>
        </p:nvSpPr>
        <p:spPr>
          <a:xfrm>
            <a:off x="7715250" y="238125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425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9FA5BC-E3E3-4614-B4E0-40E7F3E8B4CB}"/>
              </a:ext>
            </a:extLst>
          </p:cNvPr>
          <p:cNvSpPr>
            <a:spLocks noGrp="1"/>
          </p:cNvSpPr>
          <p:nvPr/>
        </p:nvSpPr>
        <p:spPr>
          <a:xfrm>
            <a:off x="10382250" y="2381250"/>
            <a:ext cx="47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F1C7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1C75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478DDE-8A31-47E4-A5E7-8E35C1401C6A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42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המחשת aliasing בזמן הקטנה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3EC78C-D4BF-4302-A818-7402D15304B6}"/>
              </a:ext>
            </a:extLst>
          </p:cNvPr>
          <p:cNvSpPr>
            <a:spLocks noGrp="1"/>
          </p:cNvSpPr>
          <p:nvPr/>
        </p:nvSpPr>
        <p:spPr>
          <a:xfrm>
            <a:off x="7715250" y="289560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425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Minification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0A7C30-16FD-4AAB-A53F-96AD8142A415}"/>
              </a:ext>
            </a:extLst>
          </p:cNvPr>
          <p:cNvSpPr>
            <a:spLocks noGrp="1"/>
          </p:cNvSpPr>
          <p:nvPr/>
        </p:nvSpPr>
        <p:spPr>
          <a:xfrm>
            <a:off x="10382250" y="2895600"/>
            <a:ext cx="47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F1C7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1C75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DCD6815-CEB7-4EA3-8842-4AAD7669766D}"/>
              </a:ext>
            </a:extLst>
          </p:cNvPr>
          <p:cNvSpPr>
            <a:spLocks noGrp="1"/>
          </p:cNvSpPr>
          <p:nvPr/>
        </p:nvSpPr>
        <p:spPr>
          <a:xfrm>
            <a:off x="1047750" y="3390900"/>
            <a:ext cx="10096500" cy="438150"/>
          </a:xfrm>
          <a:prstGeom prst="roundRect">
            <a:avLst>
              <a:gd name="adj" fmla="val 17391"/>
            </a:avLst>
          </a:prstGeom>
          <a:solidFill>
            <a:srgbClr val="2B334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FC2B25-2FA7-455F-AE85-AFBFB5307191}"/>
              </a:ext>
            </a:extLst>
          </p:cNvPr>
          <p:cNvSpPr>
            <a:spLocks noGrp="1"/>
          </p:cNvSpPr>
          <p:nvPr/>
        </p:nvSpPr>
        <p:spPr>
          <a:xfrm>
            <a:off x="1285875" y="340995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42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רמת 32×32 באמצעות ממוצע 2×2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A7ED79-C4C4-4239-9CB1-5BB4207672E8}"/>
              </a:ext>
            </a:extLst>
          </p:cNvPr>
          <p:cNvSpPr>
            <a:spLocks noGrp="1"/>
          </p:cNvSpPr>
          <p:nvPr/>
        </p:nvSpPr>
        <p:spPr>
          <a:xfrm>
            <a:off x="7715250" y="340995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425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Mipmap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4C18C0-8C75-42A1-8FEB-E8EFCE22235B}"/>
              </a:ext>
            </a:extLst>
          </p:cNvPr>
          <p:cNvSpPr>
            <a:spLocks noGrp="1"/>
          </p:cNvSpPr>
          <p:nvPr/>
        </p:nvSpPr>
        <p:spPr>
          <a:xfrm>
            <a:off x="10382250" y="3409950"/>
            <a:ext cx="47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F1C7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1C75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59E940-2C6B-463A-A7C4-0CBBBA309447}"/>
              </a:ext>
            </a:extLst>
          </p:cNvPr>
          <p:cNvSpPr>
            <a:spLocks noGrp="1"/>
          </p:cNvSpPr>
          <p:nvPr/>
        </p:nvSpPr>
        <p:spPr>
          <a:xfrm>
            <a:off x="1285875" y="39243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42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שרשרת מלאה עד 1×1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F8E0F9-CC15-4B2B-A95C-0F770F85B762}"/>
              </a:ext>
            </a:extLst>
          </p:cNvPr>
          <p:cNvSpPr>
            <a:spLocks noGrp="1"/>
          </p:cNvSpPr>
          <p:nvPr/>
        </p:nvSpPr>
        <p:spPr>
          <a:xfrm>
            <a:off x="7715250" y="392430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425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Mip chain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F85469-A5DF-4AB8-A173-BE29E3456FAC}"/>
              </a:ext>
            </a:extLst>
          </p:cNvPr>
          <p:cNvSpPr>
            <a:spLocks noGrp="1"/>
          </p:cNvSpPr>
          <p:nvPr/>
        </p:nvSpPr>
        <p:spPr>
          <a:xfrm>
            <a:off x="10382250" y="3924300"/>
            <a:ext cx="47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F1C7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1C75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D93B2EA-709D-4FC3-B682-9DA602B0BE44}"/>
              </a:ext>
            </a:extLst>
          </p:cNvPr>
          <p:cNvSpPr>
            <a:spLocks noGrp="1"/>
          </p:cNvSpPr>
          <p:nvPr/>
        </p:nvSpPr>
        <p:spPr>
          <a:xfrm>
            <a:off x="1047750" y="4419600"/>
            <a:ext cx="10096500" cy="438150"/>
          </a:xfrm>
          <a:prstGeom prst="roundRect">
            <a:avLst>
              <a:gd name="adj" fmla="val 17391"/>
            </a:avLst>
          </a:prstGeom>
          <a:solidFill>
            <a:srgbClr val="2B334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4295F1-09B1-4719-89F4-A7A98AC3923D}"/>
              </a:ext>
            </a:extLst>
          </p:cNvPr>
          <p:cNvSpPr>
            <a:spLocks noGrp="1"/>
          </p:cNvSpPr>
          <p:nvPr/>
        </p:nvSpPr>
        <p:spPr>
          <a:xfrm>
            <a:off x="1285875" y="443865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42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בחירת רמה לפי גודל הפלט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406AF3-10F5-4A0D-B455-8423637B1846}"/>
              </a:ext>
            </a:extLst>
          </p:cNvPr>
          <p:cNvSpPr>
            <a:spLocks noGrp="1"/>
          </p:cNvSpPr>
          <p:nvPr/>
        </p:nvSpPr>
        <p:spPr>
          <a:xfrm>
            <a:off x="7715250" y="443865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425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Automatic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F2E816-5711-457C-926D-38C602CAED3C}"/>
              </a:ext>
            </a:extLst>
          </p:cNvPr>
          <p:cNvSpPr>
            <a:spLocks noGrp="1"/>
          </p:cNvSpPr>
          <p:nvPr/>
        </p:nvSpPr>
        <p:spPr>
          <a:xfrm>
            <a:off x="10382250" y="4438650"/>
            <a:ext cx="47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F1C7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1C75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E61E6D-1F12-4C4A-8588-7216C852FB1E}"/>
              </a:ext>
            </a:extLst>
          </p:cNvPr>
          <p:cNvSpPr>
            <a:spLocks noGrp="1"/>
          </p:cNvSpPr>
          <p:nvPr/>
        </p:nvSpPr>
        <p:spPr>
          <a:xfrm>
            <a:off x="1285875" y="49530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42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שינוי גודל באמצעות החצים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D672FB-F8C5-448C-BADB-200E7218A3D0}"/>
              </a:ext>
            </a:extLst>
          </p:cNvPr>
          <p:cNvSpPr>
            <a:spLocks noGrp="1"/>
          </p:cNvSpPr>
          <p:nvPr/>
        </p:nvSpPr>
        <p:spPr>
          <a:xfrm>
            <a:off x="7715250" y="495300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425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Interactive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3F273F-6F72-4495-88A0-96FC6C6FA515}"/>
              </a:ext>
            </a:extLst>
          </p:cNvPr>
          <p:cNvSpPr>
            <a:spLocks noGrp="1"/>
          </p:cNvSpPr>
          <p:nvPr/>
        </p:nvSpPr>
        <p:spPr>
          <a:xfrm>
            <a:off x="10382250" y="4953000"/>
            <a:ext cx="47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F1C7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1C75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CB83069-F010-4A0C-9CDD-A119FAD15ABA}"/>
              </a:ext>
            </a:extLst>
          </p:cNvPr>
          <p:cNvSpPr>
            <a:spLocks noGrp="1"/>
          </p:cNvSpPr>
          <p:nvPr/>
        </p:nvSpPr>
        <p:spPr>
          <a:xfrm>
            <a:off x="1047750" y="5448300"/>
            <a:ext cx="10096500" cy="438150"/>
          </a:xfrm>
          <a:prstGeom prst="roundRect">
            <a:avLst>
              <a:gd name="adj" fmla="val 17391"/>
            </a:avLst>
          </a:prstGeom>
          <a:solidFill>
            <a:srgbClr val="2B334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E4DDD0-0C42-4F09-8E38-FFD86A29B4EA}"/>
              </a:ext>
            </a:extLst>
          </p:cNvPr>
          <p:cNvSpPr>
            <a:spLocks noGrp="1"/>
          </p:cNvSpPr>
          <p:nvPr/>
        </p:nvSpPr>
        <p:spPr>
          <a:xfrm>
            <a:off x="1285875" y="546735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42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בחירת רמה לפי המרחק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342B19E-3DE5-4390-9F78-DA4471D1D6C0}"/>
              </a:ext>
            </a:extLst>
          </p:cNvPr>
          <p:cNvSpPr>
            <a:spLocks noGrp="1"/>
          </p:cNvSpPr>
          <p:nvPr/>
        </p:nvSpPr>
        <p:spPr>
          <a:xfrm>
            <a:off x="7715250" y="546735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425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Perspective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27096EF-CF83-4C92-8D08-EAF3B9A0B8CD}"/>
              </a:ext>
            </a:extLst>
          </p:cNvPr>
          <p:cNvSpPr>
            <a:spLocks noGrp="1"/>
          </p:cNvSpPr>
          <p:nvPr/>
        </p:nvSpPr>
        <p:spPr>
          <a:xfrm>
            <a:off x="10382250" y="5467350"/>
            <a:ext cx="47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F1C7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1C75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79926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0ABFEE4-239E-4351-A9FB-7A3DB846D9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C5AA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25138E-0CAE-43FA-A5DA-DFE52B32F11B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25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שכלולים ותיעוד ב־Git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725711-DC35-4156-BADD-31D09FD0F194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46505E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8DAB74-8D44-4C15-9938-F64E95235AC7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17E198-172A-4075-A533-4454500F15E1}"/>
              </a:ext>
            </a:extLst>
          </p:cNvPr>
          <p:cNvSpPr>
            <a:spLocks noGrp="1"/>
          </p:cNvSpPr>
          <p:nvPr/>
        </p:nvSpPr>
        <p:spPr>
          <a:xfrm>
            <a:off x="1143000" y="1352550"/>
            <a:ext cx="9906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אחרי שהאלגוריתמים עבדו, שיפרנו את ההצגה כדי שכל צילום מסך יהיה מובן גם בלי ה־Terminal.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1CF1ED-0B71-4FE3-B1DB-B606C85F025B}"/>
              </a:ext>
            </a:extLst>
          </p:cNvPr>
          <p:cNvSpPr>
            <a:spLocks noGrp="1"/>
          </p:cNvSpPr>
          <p:nvPr/>
        </p:nvSpPr>
        <p:spPr>
          <a:xfrm>
            <a:off x="1333500" y="2286000"/>
            <a:ext cx="9525000" cy="533400"/>
          </a:xfrm>
          <a:prstGeom prst="roundRect">
            <a:avLst>
              <a:gd name="adj" fmla="val 17857"/>
            </a:avLst>
          </a:prstGeom>
          <a:solidFill>
            <a:srgbClr val="2B334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C2A69D-5653-43BF-A99D-8AA3D26509F1}"/>
              </a:ext>
            </a:extLst>
          </p:cNvPr>
          <p:cNvSpPr>
            <a:spLocks noGrp="1"/>
          </p:cNvSpPr>
          <p:nvPr/>
        </p:nvSpPr>
        <p:spPr>
          <a:xfrm>
            <a:off x="1571625" y="233362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9b4db5c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70F30B-C0AA-4B07-808C-DEF35CDBB6DA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6096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7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כותרות בתוך חלונות ההשוואה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337A04-4761-417C-9277-8AE9BACE454A}"/>
              </a:ext>
            </a:extLst>
          </p:cNvPr>
          <p:cNvSpPr>
            <a:spLocks noGrp="1"/>
          </p:cNvSpPr>
          <p:nvPr/>
        </p:nvSpPr>
        <p:spPr>
          <a:xfrm>
            <a:off x="10001250" y="2333625"/>
            <a:ext cx="571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3F299C6-1DB3-420C-835C-D3DDA15E91CB}"/>
              </a:ext>
            </a:extLst>
          </p:cNvPr>
          <p:cNvSpPr>
            <a:spLocks noGrp="1"/>
          </p:cNvSpPr>
          <p:nvPr/>
        </p:nvSpPr>
        <p:spPr>
          <a:xfrm>
            <a:off x="1333500" y="2971800"/>
            <a:ext cx="9525000" cy="533400"/>
          </a:xfrm>
          <a:prstGeom prst="roundRect">
            <a:avLst>
              <a:gd name="adj" fmla="val 17857"/>
            </a:avLst>
          </a:prstGeom>
          <a:solidFill>
            <a:srgbClr val="252D38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87E50C-5512-4029-866D-A95819C05E88}"/>
              </a:ext>
            </a:extLst>
          </p:cNvPr>
          <p:cNvSpPr>
            <a:spLocks noGrp="1"/>
          </p:cNvSpPr>
          <p:nvPr/>
        </p:nvSpPr>
        <p:spPr>
          <a:xfrm>
            <a:off x="1571625" y="301942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01cd11d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8AFB3F-21C4-4A94-A88B-794A8B36A233}"/>
              </a:ext>
            </a:extLst>
          </p:cNvPr>
          <p:cNvSpPr>
            <a:spLocks noGrp="1"/>
          </p:cNvSpPr>
          <p:nvPr/>
        </p:nvSpPr>
        <p:spPr>
          <a:xfrm>
            <a:off x="3619500" y="3019425"/>
            <a:ext cx="6096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7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כותרת לכל מצב תצוגה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7927BC-4298-4AA5-82D2-22E3B3318A1B}"/>
              </a:ext>
            </a:extLst>
          </p:cNvPr>
          <p:cNvSpPr>
            <a:spLocks noGrp="1"/>
          </p:cNvSpPr>
          <p:nvPr/>
        </p:nvSpPr>
        <p:spPr>
          <a:xfrm>
            <a:off x="10001250" y="3019425"/>
            <a:ext cx="571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67C3DFF-AB73-4DEC-B9AF-0EE7230EA2BE}"/>
              </a:ext>
            </a:extLst>
          </p:cNvPr>
          <p:cNvSpPr>
            <a:spLocks noGrp="1"/>
          </p:cNvSpPr>
          <p:nvPr/>
        </p:nvSpPr>
        <p:spPr>
          <a:xfrm>
            <a:off x="1333500" y="3657600"/>
            <a:ext cx="9525000" cy="533400"/>
          </a:xfrm>
          <a:prstGeom prst="roundRect">
            <a:avLst>
              <a:gd name="adj" fmla="val 17857"/>
            </a:avLst>
          </a:prstGeom>
          <a:solidFill>
            <a:srgbClr val="2B334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3C8C54-00D7-4C08-84D8-5FE6E85E2FB8}"/>
              </a:ext>
            </a:extLst>
          </p:cNvPr>
          <p:cNvSpPr>
            <a:spLocks noGrp="1"/>
          </p:cNvSpPr>
          <p:nvPr/>
        </p:nvSpPr>
        <p:spPr>
          <a:xfrm>
            <a:off x="1571625" y="370522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6ef1455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E82BD0-7A4E-4799-985A-65FA2DF71A70}"/>
              </a:ext>
            </a:extLst>
          </p:cNvPr>
          <p:cNvSpPr>
            <a:spLocks noGrp="1"/>
          </p:cNvSpPr>
          <p:nvPr/>
        </p:nvSpPr>
        <p:spPr>
          <a:xfrm>
            <a:off x="3619500" y="3705225"/>
            <a:ext cx="6096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7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OUTPUT ו־MIP LEVEL במצב האינטראקטיבי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447E2C-B23C-4A1A-8D0A-65F0351FEBFD}"/>
              </a:ext>
            </a:extLst>
          </p:cNvPr>
          <p:cNvSpPr>
            <a:spLocks noGrp="1"/>
          </p:cNvSpPr>
          <p:nvPr/>
        </p:nvSpPr>
        <p:spPr>
          <a:xfrm>
            <a:off x="10001250" y="3705225"/>
            <a:ext cx="571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EAAFF53-0352-4771-A63F-F29588F0DE35}"/>
              </a:ext>
            </a:extLst>
          </p:cNvPr>
          <p:cNvSpPr>
            <a:spLocks noGrp="1"/>
          </p:cNvSpPr>
          <p:nvPr/>
        </p:nvSpPr>
        <p:spPr>
          <a:xfrm>
            <a:off x="1333500" y="4343400"/>
            <a:ext cx="9525000" cy="533400"/>
          </a:xfrm>
          <a:prstGeom prst="roundRect">
            <a:avLst>
              <a:gd name="adj" fmla="val 17857"/>
            </a:avLst>
          </a:prstGeom>
          <a:solidFill>
            <a:srgbClr val="252D38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A76666-A3A9-4148-93E8-EFDBA8B89A83}"/>
              </a:ext>
            </a:extLst>
          </p:cNvPr>
          <p:cNvSpPr>
            <a:spLocks noGrp="1"/>
          </p:cNvSpPr>
          <p:nvPr/>
        </p:nvSpPr>
        <p:spPr>
          <a:xfrm>
            <a:off x="1571625" y="439102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746e4d9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6583B5-2911-4258-93E4-9432E46FA39B}"/>
              </a:ext>
            </a:extLst>
          </p:cNvPr>
          <p:cNvSpPr>
            <a:spLocks noGrp="1"/>
          </p:cNvSpPr>
          <p:nvPr/>
        </p:nvSpPr>
        <p:spPr>
          <a:xfrm>
            <a:off x="3619500" y="4391025"/>
            <a:ext cx="6096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7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מידה מתחת לכל רמה בשרשרת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E7A1FF-7AAB-4A5D-A72E-5E4C3F3C4FF4}"/>
              </a:ext>
            </a:extLst>
          </p:cNvPr>
          <p:cNvSpPr>
            <a:spLocks noGrp="1"/>
          </p:cNvSpPr>
          <p:nvPr/>
        </p:nvSpPr>
        <p:spPr>
          <a:xfrm>
            <a:off x="10001250" y="4391025"/>
            <a:ext cx="571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E5CF2EE-7006-436E-B739-45C9880E8488}"/>
              </a:ext>
            </a:extLst>
          </p:cNvPr>
          <p:cNvSpPr>
            <a:spLocks noGrp="1"/>
          </p:cNvSpPr>
          <p:nvPr/>
        </p:nvSpPr>
        <p:spPr>
          <a:xfrm>
            <a:off x="1333500" y="5029200"/>
            <a:ext cx="9525000" cy="533400"/>
          </a:xfrm>
          <a:prstGeom prst="roundRect">
            <a:avLst>
              <a:gd name="adj" fmla="val 17857"/>
            </a:avLst>
          </a:prstGeom>
          <a:solidFill>
            <a:srgbClr val="2B334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E92B71-CEB8-4AED-B1AA-64051E5D28B6}"/>
              </a:ext>
            </a:extLst>
          </p:cNvPr>
          <p:cNvSpPr>
            <a:spLocks noGrp="1"/>
          </p:cNvSpPr>
          <p:nvPr/>
        </p:nvSpPr>
        <p:spPr>
          <a:xfrm>
            <a:off x="1571625" y="507682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3dd28b6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3233B6-ADBE-4AD1-A1BE-6112E7023943}"/>
              </a:ext>
            </a:extLst>
          </p:cNvPr>
          <p:cNvSpPr>
            <a:spLocks noGrp="1"/>
          </p:cNvSpPr>
          <p:nvPr/>
        </p:nvSpPr>
        <p:spPr>
          <a:xfrm>
            <a:off x="3619500" y="5076825"/>
            <a:ext cx="6096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7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הסבר לכל בחירה אוטומטית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FE6A93-5D75-45DA-B91C-61DA84F09B91}"/>
              </a:ext>
            </a:extLst>
          </p:cNvPr>
          <p:cNvSpPr>
            <a:spLocks noGrp="1"/>
          </p:cNvSpPr>
          <p:nvPr/>
        </p:nvSpPr>
        <p:spPr>
          <a:xfrm>
            <a:off x="10001250" y="5076825"/>
            <a:ext cx="571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27153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9F28D7E-08AD-49E8-BE24-F889CD4243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C5AA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1641B6-A8C5-4F73-84B4-9CF53F0FA7EA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25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בעיות שפגשנו ומה למדנו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661D78-A57C-44C1-994C-823A128F7336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46505E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02D0AB-8071-4F93-96E0-DD4F0E4292D5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96FE7B-96D1-4371-8087-44E461FB1E6A}"/>
              </a:ext>
            </a:extLst>
          </p:cNvPr>
          <p:cNvSpPr>
            <a:spLocks noGrp="1"/>
          </p:cNvSpPr>
          <p:nvPr/>
        </p:nvSpPr>
        <p:spPr>
          <a:xfrm>
            <a:off x="7810500" y="14287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800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חלון OpenGL שחור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48B683-4EA4-429F-92EE-27CC0F067E06}"/>
              </a:ext>
            </a:extLst>
          </p:cNvPr>
          <p:cNvSpPr>
            <a:spLocks noGrp="1"/>
          </p:cNvSpPr>
          <p:nvPr/>
        </p:nvSpPr>
        <p:spPr>
          <a:xfrm>
            <a:off x="1571625" y="1466850"/>
            <a:ext cx="5905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7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בדקנו את ה־back buffer והשווינו לתרגיל בית 1. עברנו ל־MiniFB ול־CPU framebuffer.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397C7C-7A21-47F0-B8DD-3A5884765B26}"/>
              </a:ext>
            </a:extLst>
          </p:cNvPr>
          <p:cNvSpPr>
            <a:spLocks noGrp="1"/>
          </p:cNvSpPr>
          <p:nvPr/>
        </p:nvSpPr>
        <p:spPr>
          <a:xfrm>
            <a:off x="1143000" y="1504950"/>
            <a:ext cx="114300" cy="666750"/>
          </a:xfrm>
          <a:prstGeom prst="roundRect">
            <a:avLst>
              <a:gd name="adj" fmla="val 50000"/>
            </a:avLst>
          </a:prstGeom>
          <a:solidFill>
            <a:srgbClr val="2C5AA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C86096-589A-4F1E-A6FD-378F714C5410}"/>
              </a:ext>
            </a:extLst>
          </p:cNvPr>
          <p:cNvSpPr>
            <a:spLocks noGrp="1"/>
          </p:cNvSpPr>
          <p:nvPr/>
        </p:nvSpPr>
        <p:spPr>
          <a:xfrm>
            <a:off x="7810500" y="2619375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800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Stack overflow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B31003-C016-48F9-A150-BF41EF043EEC}"/>
              </a:ext>
            </a:extLst>
          </p:cNvPr>
          <p:cNvSpPr>
            <a:spLocks noGrp="1"/>
          </p:cNvSpPr>
          <p:nvPr/>
        </p:nvSpPr>
        <p:spPr>
          <a:xfrm>
            <a:off x="1571625" y="2657475"/>
            <a:ext cx="5905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7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ה־framebuffer היה משתנה מקומי גדול. העברנו אותו לאחסון סטטי.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33D75E-99F6-427D-B460-9F4335CD6171}"/>
              </a:ext>
            </a:extLst>
          </p:cNvPr>
          <p:cNvSpPr>
            <a:spLocks noGrp="1"/>
          </p:cNvSpPr>
          <p:nvPr/>
        </p:nvSpPr>
        <p:spPr>
          <a:xfrm>
            <a:off x="1143000" y="2695575"/>
            <a:ext cx="114300" cy="666750"/>
          </a:xfrm>
          <a:prstGeom prst="roundRect">
            <a:avLst>
              <a:gd name="adj" fmla="val 50000"/>
            </a:avLst>
          </a:prstGeom>
          <a:solidFill>
            <a:srgbClr val="F1C75B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5E2C96-553E-4E8B-B957-A358D018F7E5}"/>
              </a:ext>
            </a:extLst>
          </p:cNvPr>
          <p:cNvSpPr>
            <a:spLocks noGrp="1"/>
          </p:cNvSpPr>
          <p:nvPr/>
        </p:nvSpPr>
        <p:spPr>
          <a:xfrm>
            <a:off x="7810500" y="381000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800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המקלדת לא הגיבה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A5682-B04D-44F8-B587-F415F786C193}"/>
              </a:ext>
            </a:extLst>
          </p:cNvPr>
          <p:cNvSpPr>
            <a:spLocks noGrp="1"/>
          </p:cNvSpPr>
          <p:nvPr/>
        </p:nvSpPr>
        <p:spPr>
          <a:xfrm>
            <a:off x="1571625" y="3848100"/>
            <a:ext cx="5905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7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הוספנו callback מסודר לאירועי מקלדת.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3A9FEF0-902C-4D70-A0A7-9B2FF0B7C191}"/>
              </a:ext>
            </a:extLst>
          </p:cNvPr>
          <p:cNvSpPr>
            <a:spLocks noGrp="1"/>
          </p:cNvSpPr>
          <p:nvPr/>
        </p:nvSpPr>
        <p:spPr>
          <a:xfrm>
            <a:off x="1143000" y="3886200"/>
            <a:ext cx="114300" cy="666750"/>
          </a:xfrm>
          <a:prstGeom prst="roundRect">
            <a:avLst>
              <a:gd name="adj" fmla="val 50000"/>
            </a:avLst>
          </a:prstGeom>
          <a:solidFill>
            <a:srgbClr val="2C5AA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447358-8D35-41F9-AB38-7BB7410DD232}"/>
              </a:ext>
            </a:extLst>
          </p:cNvPr>
          <p:cNvSpPr>
            <a:spLocks noGrp="1"/>
          </p:cNvSpPr>
          <p:nvPr/>
        </p:nvSpPr>
        <p:spPr>
          <a:xfrm>
            <a:off x="7810500" y="5000625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800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צבע כחול הפך לחום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B28B7C-D3D4-4D2A-8D74-6B35AF753020}"/>
              </a:ext>
            </a:extLst>
          </p:cNvPr>
          <p:cNvSpPr>
            <a:spLocks noGrp="1"/>
          </p:cNvSpPr>
          <p:nvPr/>
        </p:nvSpPr>
        <p:spPr>
          <a:xfrm>
            <a:off x="1571625" y="5038725"/>
            <a:ext cx="5905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575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תיקנו את סדר ערוצי RGB ואת פעולות ה־bit shift.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57570EA-5BBC-4A89-A34E-9DA24EE324DE}"/>
              </a:ext>
            </a:extLst>
          </p:cNvPr>
          <p:cNvSpPr>
            <a:spLocks noGrp="1"/>
          </p:cNvSpPr>
          <p:nvPr/>
        </p:nvSpPr>
        <p:spPr>
          <a:xfrm>
            <a:off x="1143000" y="5076825"/>
            <a:ext cx="114300" cy="666750"/>
          </a:xfrm>
          <a:prstGeom prst="roundRect">
            <a:avLst>
              <a:gd name="adj" fmla="val 50000"/>
            </a:avLst>
          </a:prstGeom>
          <a:solidFill>
            <a:srgbClr val="F1C75B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D79951-5FE5-4403-BD09-0D0A43268B8A}"/>
              </a:ext>
            </a:extLst>
          </p:cNvPr>
          <p:cNvSpPr>
            <a:spLocks noGrp="1"/>
          </p:cNvSpPr>
          <p:nvPr/>
        </p:nvSpPr>
        <p:spPr>
          <a:xfrm>
            <a:off x="1714500" y="6238875"/>
            <a:ext cx="8763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F1C7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C75B"/>
                </a:solidFill>
                <a:latin typeface="Arial"/>
                <a:ea typeface="Arial"/>
                <a:cs typeface="Arial"/>
              </a:rPr>
              <a:t>כל תיקון נבדק בהרצה לפני שעברנו לאיטרציה הבאה.</a:t>
            </a:r>
          </a:p>
        </p:txBody>
      </p:sp>
    </p:spTree>
    <p:extLst>
      <p:ext uri="{BB962C8B-B14F-4D97-AF65-F5344CB8AC3E}">
        <p14:creationId xmlns:p14="http://schemas.microsoft.com/office/powerpoint/2010/main" val="350872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0250014-5CA1-412E-9B65-C0CD41E62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C5AA0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BCD6FB-EA0B-407D-9010-B43F1B3A28B4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25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סיכום והדגמה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4E4859-F513-4867-9D6F-C63C6635814B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46505E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521B1-8007-4C31-914B-95010EFAC49E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18255F-D2E2-4D83-A379-415FEDE75123}"/>
              </a:ext>
            </a:extLst>
          </p:cNvPr>
          <p:cNvSpPr>
            <a:spLocks noGrp="1"/>
          </p:cNvSpPr>
          <p:nvPr/>
        </p:nvSpPr>
        <p:spPr>
          <a:xfrm>
            <a:off x="1285875" y="1381125"/>
            <a:ext cx="9620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 fontScale="97845"/>
          </a:bodyPr>
          <a:lstStyle/>
          <a:p>
            <a:pPr algn="ctr">
              <a:lnSpc>
                <a:spcPct val="108000"/>
              </a:lnSpc>
              <a:buNone/>
              <a:defRPr sz="21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הפרויקט מדגים את ההבדל בין דגימה מקומית לבין שימוש ברמות מוקטנות של הטקסטורה.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4D6B83-C739-4E0E-BBEF-D0C4DECC4DE3}"/>
              </a:ext>
            </a:extLst>
          </p:cNvPr>
          <p:cNvSpPr>
            <a:spLocks noGrp="1"/>
          </p:cNvSpPr>
          <p:nvPr/>
        </p:nvSpPr>
        <p:spPr>
          <a:xfrm>
            <a:off x="1285875" y="1924050"/>
            <a:ext cx="9620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C4D8"/>
                </a:solidFill>
                <a:latin typeface="Arial"/>
                <a:ea typeface="Arial"/>
                <a:cs typeface="Arial"/>
              </a:rPr>
              <a:t>Mipmapping reduces aliasing during minification and perspective rendering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6F7365-139F-47CA-90F2-B79D6D35A89E}"/>
              </a:ext>
            </a:extLst>
          </p:cNvPr>
          <p:cNvSpPr>
            <a:spLocks noGrp="1"/>
          </p:cNvSpPr>
          <p:nvPr/>
        </p:nvSpPr>
        <p:spPr>
          <a:xfrm>
            <a:off x="1333500" y="2714625"/>
            <a:ext cx="9525000" cy="19050"/>
          </a:xfrm>
          <a:prstGeom prst="rect">
            <a:avLst/>
          </a:prstGeom>
          <a:solidFill>
            <a:srgbClr val="46505E"/>
          </a:solidFill>
          <a:ln w="0"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C0907D-58EC-482D-B658-2054C49A8FF1}"/>
              </a:ext>
            </a:extLst>
          </p:cNvPr>
          <p:cNvSpPr>
            <a:spLocks noGrp="1"/>
          </p:cNvSpPr>
          <p:nvPr/>
        </p:nvSpPr>
        <p:spPr>
          <a:xfrm>
            <a:off x="7810500" y="3048000"/>
            <a:ext cx="2857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2025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מקשים בהדגמה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B7AF06-DA1D-4095-B396-4FC90C4D7DE5}"/>
              </a:ext>
            </a:extLst>
          </p:cNvPr>
          <p:cNvSpPr>
            <a:spLocks noGrp="1"/>
          </p:cNvSpPr>
          <p:nvPr/>
        </p:nvSpPr>
        <p:spPr>
          <a:xfrm>
            <a:off x="6667500" y="3600450"/>
            <a:ext cx="400050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6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1–2  שיטות בסיסיות</a:t>
            </a:r>
          </a:p>
          <a:p>
            <a:pPr algn="r">
              <a:lnSpc>
                <a:spcPct val="108000"/>
              </a:lnSpc>
              <a:buNone/>
              <a:defRPr sz="16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3–5  השוואות והקטנה</a:t>
            </a:r>
          </a:p>
          <a:p>
            <a:pPr algn="r">
              <a:lnSpc>
                <a:spcPct val="108000"/>
              </a:lnSpc>
              <a:buNone/>
              <a:defRPr sz="16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6–7  שרשרת ובחירה אוטומטית</a:t>
            </a:r>
          </a:p>
          <a:p>
            <a:pPr algn="r">
              <a:lnSpc>
                <a:spcPct val="108000"/>
              </a:lnSpc>
              <a:buNone/>
              <a:defRPr sz="16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8  שינוי גודל עם החצים</a:t>
            </a:r>
          </a:p>
          <a:p>
            <a:pPr algn="r">
              <a:lnSpc>
                <a:spcPct val="108000"/>
              </a:lnSpc>
              <a:buNone/>
              <a:defRPr sz="16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9  פרספקטיבה</a:t>
            </a:r>
          </a:p>
          <a:p>
            <a:pPr algn="r">
              <a:lnSpc>
                <a:spcPct val="108000"/>
              </a:lnSpc>
              <a:buNone/>
              <a:defRPr sz="16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Esc  יציאה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E68C21-2F2E-4F79-B091-49B3B8147297}"/>
              </a:ext>
            </a:extLst>
          </p:cNvPr>
          <p:cNvSpPr>
            <a:spLocks noGrp="1"/>
          </p:cNvSpPr>
          <p:nvPr/>
        </p:nvSpPr>
        <p:spPr>
          <a:xfrm>
            <a:off x="1619250" y="3048000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2025" b="1">
                <a:solidFill>
                  <a:srgbClr val="55C4D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C4D8"/>
                </a:solidFill>
                <a:latin typeface="Arial"/>
                <a:ea typeface="Arial"/>
                <a:cs typeface="Arial"/>
              </a:rPr>
              <a:t>מה חשוב לראות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4CF487-6BFE-404A-8C05-533DA655209B}"/>
              </a:ext>
            </a:extLst>
          </p:cNvPr>
          <p:cNvSpPr>
            <a:spLocks noGrp="1"/>
          </p:cNvSpPr>
          <p:nvPr/>
        </p:nvSpPr>
        <p:spPr>
          <a:xfrm>
            <a:off x="1476375" y="3600450"/>
            <a:ext cx="4000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6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• ההבדל בין קצוות חדים לחלקים</a:t>
            </a:r>
          </a:p>
          <a:p>
            <a:pPr algn="r">
              <a:lnSpc>
                <a:spcPct val="108000"/>
              </a:lnSpc>
              <a:buNone/>
              <a:defRPr sz="16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• דפוסים שגויים בזמן הקטנה</a:t>
            </a:r>
          </a:p>
          <a:p>
            <a:pPr algn="r">
              <a:lnSpc>
                <a:spcPct val="108000"/>
              </a:lnSpc>
              <a:buNone/>
              <a:defRPr sz="16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• יצירת כל רמות הטקסטורה</a:t>
            </a:r>
          </a:p>
          <a:p>
            <a:pPr algn="r">
              <a:lnSpc>
                <a:spcPct val="108000"/>
              </a:lnSpc>
              <a:buNone/>
              <a:defRPr sz="16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• התאמת הרמה לגודל ולמרחק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65EDAB-8BA5-4AF6-A142-1F23E61E023D}"/>
              </a:ext>
            </a:extLst>
          </p:cNvPr>
          <p:cNvSpPr>
            <a:spLocks noGrp="1"/>
          </p:cNvSpPr>
          <p:nvPr/>
        </p:nvSpPr>
        <p:spPr>
          <a:xfrm>
            <a:off x="1619250" y="6048375"/>
            <a:ext cx="895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B8C1C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1CD"/>
                </a:solidFill>
                <a:latin typeface="Arial"/>
                <a:ea typeface="Arial"/>
                <a:cs typeface="Arial"/>
              </a:rPr>
              <a:t>קישור לפרויקט: github.com/raghdans/texture-filtering-lab</a:t>
            </a:r>
          </a:p>
        </p:txBody>
      </p:sp>
    </p:spTree>
    <p:extLst>
      <p:ext uri="{BB962C8B-B14F-4D97-AF65-F5344CB8AC3E}">
        <p14:creationId xmlns:p14="http://schemas.microsoft.com/office/powerpoint/2010/main" val="20858636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801</Words>
  <Application>Microsoft Office PowerPoint</Application>
  <DocSecurity>0</DocSecurity>
  <PresentationFormat>Widescreen</PresentationFormat>
  <Paragraphs>171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Raghdan Saaida</cp:lastModifiedBy>
  <cp:revision>1</cp:revision>
  <dcterms:created xsi:type="dcterms:W3CDTF">2026-09-29T14:55:40Z</dcterms:created>
  <dcterms:modified xsi:type="dcterms:W3CDTF">2026-09-29T15:34:42Z</dcterms:modified>
</cp:coreProperties>
</file>